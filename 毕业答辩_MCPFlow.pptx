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2FF"/>
                </a:solidFill>
                <a:latin typeface="Microsoft YaHei"/>
              </a:defRPr>
            </a:pPr>
            <a:r>
              <a:t>MCPFlow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基于 MCP 协议的多智能体可视化编排平台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474720"/>
            <a:ext cx="2743200" cy="548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CCCCCC"/>
                </a:solidFill>
                <a:latin typeface="Microsoft YaHei"/>
              </a:defRPr>
            </a:pPr>
            <a:r>
              <a:t>答辩人：郑银杰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CCCCCC"/>
                </a:solidFill>
                <a:latin typeface="Microsoft YaHei"/>
              </a:defRPr>
            </a:pPr>
            <a:r>
              <a:t>指导教师：XXX 教授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计算机科学与技术学院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2026年5月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114800"/>
            <a:ext cx="3474720" cy="201168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D2FF"/>
                </a:solidFill>
                <a:latin typeface="Microsoft YaHei"/>
              </a:defRPr>
            </a:pPr>
            <a:r>
              <a:t>基于 MCP 协议</a:t>
            </a:r>
            <a:br/>
            <a:r>
              <a:t>多智能体编排</a:t>
            </a:r>
            <a:br/>
            <a:r>
              <a:t>可视化工作流</a:t>
            </a:r>
            <a:br/>
            <a:r>
              <a:t>DAG 拓扑执行</a:t>
            </a:r>
          </a:p>
          <a:p>
            <a:pPr>
              <a:defRPr sz="600"/>
            </a:pPr>
          </a:p>
          <a:p>
            <a:pPr>
              <a:defRPr sz="600"/>
            </a:pPr>
          </a:p>
          <a:p>
            <a:pPr>
              <a:defRPr sz="6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MCPFlow · 毕业答辩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2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371600" cy="548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182880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847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214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多智能体协作的时代需求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2487168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0545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系统架构总览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797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分层架构 + 技术栈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3145536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1638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核心工程设计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43814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DAG引擎 · 8种节点 · MCP集成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3803904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8221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关键技术创新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0965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双模连接 · 动态工具发现 · 模板解析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4462272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480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前端可视化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754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拖拽编排 · 实时执行监控</a:t>
            </a:r>
          </a:p>
        </p:txBody>
      </p:sp>
      <p:sp>
        <p:nvSpPr>
          <p:cNvPr id="22" name="Oval 21"/>
          <p:cNvSpPr/>
          <p:nvPr/>
        </p:nvSpPr>
        <p:spPr>
          <a:xfrm>
            <a:off x="1371600" y="512064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1389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实验与评估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413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功能测试 · 横向对比</a:t>
            </a:r>
          </a:p>
        </p:txBody>
      </p:sp>
      <p:sp>
        <p:nvSpPr>
          <p:cNvPr id="25" name="Oval 24"/>
          <p:cNvSpPr/>
          <p:nvPr/>
        </p:nvSpPr>
        <p:spPr>
          <a:xfrm>
            <a:off x="1371600" y="5779008"/>
            <a:ext cx="502920" cy="50292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7972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60716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研究成果 · 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MCPFlow · 毕业答辩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3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2FF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371600" cy="548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3200400" cy="219456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🏗️ 异构模型孤岛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不同厂商的LLM、工具、数据源</a:t>
            </a:r>
            <a:br/>
            <a:r>
              <a:t>协议不统一，手动集成成本高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200400" cy="219456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🔗 协作链路复杂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多智能体间上下文传递困难</a:t>
            </a:r>
            <a:br/>
            <a:r>
              <a:t>缺乏可视化编排手段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200400" cy="219456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⚡ 调试追踪困难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Agent执行过程不透明</a:t>
            </a:r>
            <a:br/>
            <a:r>
              <a:t>问题定位依赖日志逐行排查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Microsoft YaHei"/>
              </a:defRPr>
            </a:pPr>
            <a:r>
              <a:t>▸ 解决方案：基于 MCP 协议的统一编排平台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MCP (Model Context Protocol)：Anthropic 提出的标准化 AI 工具交互协议，统一工具发现、调用、上下文管理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440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可视化工作流编排：拖拽式 DAG 画布，8 种节点类型覆盖 LLM 调用、Agent 协作、代码执行等场景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Streamable HTTP + SSE 双模连接：兼容本地与远程 MCP Server，支持动态工具发现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MCPFlow · 毕业答辩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2FF"/>
                </a:solidFill>
                <a:latin typeface="Microsoft YaHei"/>
              </a:defRPr>
            </a:pPr>
            <a:r>
              <a:t>系统架构总览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371600" cy="548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分层架构：展示层 → API 网关 → 业务引擎 → 数据持久化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828800" cy="91440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展示层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574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React 18 + TypeScript</a:t>
            </a:r>
            <a:br/>
            <a:r>
              <a:t>Vite + Ant Design</a:t>
            </a:r>
            <a:br/>
            <a:r>
              <a:t>拖拽式工作流编辑器</a:t>
            </a:r>
            <a:br/>
            <a:r>
              <a:t>实时执行监控面板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691640" y="2971800"/>
            <a:ext cx="274320" cy="13716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1828800" cy="91440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API 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1546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Gin Web Framework</a:t>
            </a:r>
            <a:br/>
            <a:r>
              <a:t>RESTful API</a:t>
            </a:r>
            <a:br/>
            <a:r>
              <a:t>CORS 跨域支持</a:t>
            </a:r>
            <a:br/>
            <a:r>
              <a:t>Streamable HTTP / SSE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691640" y="4069080"/>
            <a:ext cx="274320" cy="13716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206240"/>
            <a:ext cx="1828800" cy="914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引擎层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2519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DAG 拓扑排序</a:t>
            </a:r>
            <a:br/>
            <a:r>
              <a:t>8 种节点执行器</a:t>
            </a:r>
            <a:br/>
            <a:r>
              <a:t>MCP 客户端管理</a:t>
            </a:r>
            <a:br/>
            <a:r>
              <a:t>模板变量解析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691640" y="5166360"/>
            <a:ext cx="274320" cy="13716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5303520"/>
            <a:ext cx="1828800" cy="914400"/>
          </a:xfrm>
          <a:prstGeom prst="round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存储层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3492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MongoDB 文档数据库</a:t>
            </a:r>
            <a:br/>
            <a:r>
              <a:t>Workflow / Execution</a:t>
            </a:r>
            <a:br/>
            <a:r>
              <a:t>LLM Provider 配置</a:t>
            </a:r>
            <a:br/>
            <a:r>
              <a:t>MCP Server 注册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6400800"/>
            <a:ext cx="1737360" cy="3200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D2FF"/>
                </a:solidFill>
                <a:latin typeface="Microsoft YaHei"/>
              </a:defRPr>
            </a:pPr>
            <a:r>
              <a:t>Go 1.25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6400800"/>
            <a:ext cx="1005840" cy="3200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D2FF"/>
                </a:solidFill>
                <a:latin typeface="Microsoft YaHei"/>
              </a:defRPr>
            </a:pPr>
            <a:r>
              <a:t>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6400800"/>
            <a:ext cx="1737360" cy="3200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D2FF"/>
                </a:solidFill>
                <a:latin typeface="Microsoft YaHei"/>
              </a:defRPr>
            </a:pPr>
            <a:r>
              <a:t>MongoDB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6400800"/>
            <a:ext cx="1920240" cy="3200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D2FF"/>
                </a:solidFill>
                <a:latin typeface="Microsoft YaHei"/>
              </a:defRPr>
            </a:pPr>
            <a:r>
              <a:t>React 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6400800"/>
            <a:ext cx="2286000" cy="3200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D2FF"/>
                </a:solidFill>
                <a:latin typeface="Microsoft YaHei"/>
              </a:defRPr>
            </a:pPr>
            <a:r>
              <a:t>TypeScript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87000" y="6400800"/>
            <a:ext cx="1188720" cy="3200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D2FF"/>
                </a:solidFill>
                <a:latin typeface="Microsoft YaHei"/>
              </a:defRPr>
            </a:pPr>
            <a:r>
              <a:t>Vite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612880" y="6400800"/>
            <a:ext cx="1554480" cy="3200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D2FF"/>
                </a:solidFill>
                <a:latin typeface="Microsoft YaHei"/>
              </a:defRPr>
            </a:pPr>
            <a:r>
              <a:t>Docker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304520" y="6400800"/>
            <a:ext cx="1371600" cy="3200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D2FF"/>
                </a:solidFill>
                <a:latin typeface="Microsoft YaHei"/>
              </a:defRPr>
            </a:pPr>
            <a:r>
              <a:t>Nginx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813280" y="6400800"/>
            <a:ext cx="1554480" cy="32004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D2FF"/>
                </a:solidFill>
                <a:latin typeface="Microsoft YaHei"/>
              </a:defRPr>
            </a:pPr>
            <a:r>
              <a:t>MCP-Go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MCPFlow · 毕业答辩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5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2FF"/>
                </a:solidFill>
                <a:latin typeface="Microsoft YaHei"/>
              </a:defRPr>
            </a:pPr>
            <a:r>
              <a:t>核心设计：DAG 工作流引擎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371600" cy="548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▸ 执行流程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① 构建反向边映射 (reverse edge map)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8716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② 拓扑排序 → 确定执行顺序 → 检测环路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6265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③ 逐节点执行：收集上游输出 → 模板解析 → 调用执行器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3814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④ 条件分支控制：表达式求值 → 按边条件跳过非激活分支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1363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⑤ 记录节点状态 (pending / running / success / failed / skipped)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891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⑥ 返回完整执行记录 + 每个节点的耗时/输出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68EE"/>
                </a:solidFill>
                <a:latin typeface="Microsoft YaHei"/>
              </a:defRPr>
            </a:pPr>
            <a:r>
              <a:t>▸ 关键设计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011680"/>
            <a:ext cx="3657600" cy="77724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084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WorkflowContext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591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节点间共享上下文，通过 NodeOutput 传递数据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926080"/>
            <a:ext cx="3657600" cy="77724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9992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模板解析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2735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支持 {{node_id.field}} 引用上游节点输出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840480"/>
            <a:ext cx="3657600" cy="77724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9136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条件跳过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1879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shouldSkip() 沿反向边递归检查分支激活状态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4754880"/>
            <a:ext cx="3657600" cy="77724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48280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超时控制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1023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context.WithTimeout 保障单节点不阻塞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46320"/>
            <a:ext cx="10332720" cy="1371600"/>
          </a:xfrm>
          <a:prstGeom prst="round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  核心代码: engine.go - ExecuteWorkflow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2120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func (e *Engine) ExecuteWorkflow(wf *Workflow, input map[string]any) (*Execution, error) {</a:t>
            </a:r>
            <a:br/>
            <a:r>
              <a:t>    order, _ := topoSort(wf.Nodes, wf.Edges)          // ① 拓扑排序 → DAG执行顺序</a:t>
            </a:r>
            <a:br/>
            <a:r>
              <a:t>    for _, nodeID := range order {</a:t>
            </a:r>
            <a:br/>
            <a:r>
              <a:t>        if shouldSkip(nodeID, reverseEdges, ctx, skipped) { continue }  // ② 条件分支跳过</a:t>
            </a:r>
            <a:br/>
            <a:r>
              <a:t>        output, _ := e.executeNode(node, ctx)          // ③ 多态执行 → 8种节点类型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MCPFlow · 毕业答辩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2FF"/>
                </a:solidFill>
                <a:latin typeface="Microsoft YaHei"/>
              </a:defRPr>
            </a:pPr>
            <a:r>
              <a:t>8 种节点类型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371600" cy="548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645920"/>
            <a:ext cx="2286000" cy="2011680"/>
          </a:xfrm>
          <a:prstGeom prst="roundRect">
            <a:avLst/>
          </a:prstGeom>
          <a:solidFill>
            <a:srgbClr val="25253D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工作流入口</a:t>
            </a:r>
            <a:br/>
            <a:r>
              <a:t>定义输入参数</a:t>
            </a:r>
            <a:br/>
            <a:r>
              <a:t>支持类型校验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1645920"/>
            <a:ext cx="2286000" cy="2011680"/>
          </a:xfrm>
          <a:prstGeom prst="roundRect">
            <a:avLst/>
          </a:prstGeom>
          <a:solidFill>
            <a:srgbClr val="25253D"/>
          </a:solidFill>
          <a:ln w="254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8EE"/>
                </a:solidFill>
                <a:latin typeface="Microsoft YaHei"/>
              </a:defRPr>
            </a:pPr>
            <a: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28600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大模型调用</a:t>
            </a:r>
            <a:br/>
            <a:r>
              <a:t>多Provider</a:t>
            </a:r>
            <a:br/>
            <a:r>
              <a:t>支持JSON输出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2286000" cy="2011680"/>
          </a:xfrm>
          <a:prstGeom prst="roundRect">
            <a:avLst/>
          </a:prstGeom>
          <a:solidFill>
            <a:srgbClr val="25253D"/>
          </a:solidFill>
          <a:ln w="25400">
            <a:solidFill>
              <a:srgbClr val="F08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C2E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多智能体节点</a:t>
            </a:r>
            <a:br/>
            <a:r>
              <a:t>MCP工具集成</a:t>
            </a:r>
            <a:br/>
            <a:r>
              <a:t>迭代式推理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2286000" cy="2011680"/>
          </a:xfrm>
          <a:prstGeom prst="roundRect">
            <a:avLst/>
          </a:prstGeom>
          <a:solidFill>
            <a:srgbClr val="25253D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Microsoft YaHei"/>
              </a:defRPr>
            </a:pPr>
            <a:r>
              <a:t>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8600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条件分支</a:t>
            </a:r>
            <a:br/>
            <a:r>
              <a:t>Expr表达式求值</a:t>
            </a:r>
            <a:br/>
            <a:r>
              <a:t>动态路由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023360"/>
            <a:ext cx="2286000" cy="2011680"/>
          </a:xfrm>
          <a:prstGeom prst="roundRect">
            <a:avLst/>
          </a:prstGeom>
          <a:solidFill>
            <a:srgbClr val="25253D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160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6634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代码执行</a:t>
            </a:r>
            <a:br/>
            <a:r>
              <a:t>JavaScript (Goja)</a:t>
            </a:r>
            <a:br/>
            <a:r>
              <a:t>沙箱隔离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4023360"/>
            <a:ext cx="2286000" cy="2011680"/>
          </a:xfrm>
          <a:prstGeom prst="roundRect">
            <a:avLst/>
          </a:prstGeom>
          <a:solidFill>
            <a:srgbClr val="25253D"/>
          </a:solidFill>
          <a:ln w="25400">
            <a:solidFill>
              <a:srgbClr val="E0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4160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3E36"/>
                </a:solidFill>
                <a:latin typeface="Microsoft YaHei"/>
              </a:defRPr>
            </a:pPr>
            <a:r>
              <a:t>HTTP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6634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HTTP请求</a:t>
            </a:r>
            <a:br/>
            <a:r>
              <a:t>REST API</a:t>
            </a:r>
            <a:br/>
            <a:r>
              <a:t>自定义Header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023360"/>
            <a:ext cx="2286000" cy="2011680"/>
          </a:xfrm>
          <a:prstGeom prst="roundRect">
            <a:avLst/>
          </a:prstGeom>
          <a:solidFill>
            <a:srgbClr val="25253D"/>
          </a:solidFill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160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88888"/>
                </a:solidFill>
                <a:latin typeface="Microsoft YaHei"/>
              </a:defRPr>
            </a:pPr>
            <a:r>
              <a:t>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6634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邮件发送</a:t>
            </a:r>
            <a:br/>
            <a:r>
              <a:t>SMTP协议</a:t>
            </a:r>
            <a:br/>
            <a:r>
              <a:t>HTML/文本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4023360"/>
            <a:ext cx="2286000" cy="2011680"/>
          </a:xfrm>
          <a:prstGeom prst="roundRect">
            <a:avLst/>
          </a:prstGeom>
          <a:solidFill>
            <a:srgbClr val="25253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4160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46634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工作流终点</a:t>
            </a:r>
            <a:br/>
            <a:r>
              <a:t>聚合结果</a:t>
            </a:r>
            <a:br/>
            <a:r>
              <a:t>标记完成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MCPFlow · 毕业答辩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7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2FF"/>
                </a:solidFill>
                <a:latin typeface="Microsoft YaHei"/>
              </a:defRPr>
            </a:pPr>
            <a:r>
              <a:t>关键创新：MCP 协议集成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371600" cy="548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▸ Streamable HTTP + SSE 双模连接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5029200" cy="9144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Microsoft YaHei"/>
              </a:defRPr>
            </a:pPr>
            <a:r>
              <a:t>Streamable HTTP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标准 HTTP 协议，兼容远程 MCP Server</a:t>
            </a:r>
            <a:br/>
            <a:r>
              <a:t>支持请求-响应 + 流式传输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5029200" cy="9144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8EE"/>
                </a:solidFill>
                <a:latin typeface="Microsoft YaHei"/>
              </a:defRPr>
            </a:pPr>
            <a:r>
              <a:t>SSE (Server-Sent Events)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长连接推送，实时工具列表更新</a:t>
            </a:r>
            <a:br/>
            <a:r>
              <a:t>适配本地与云服务场景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▸ 工具动态发现流程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MCP Server URL 配置 → 建立连接 (transport) → Initialize 握手 → ListTools 获取工具列表 → 转换为 OpenAI Function Calling 格式 → Agent 推理 + 工具调用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8EE"/>
                </a:solidFill>
                <a:latin typeface="Microsoft YaHei"/>
              </a:defRPr>
            </a:pPr>
            <a:r>
              <a:t>▸ MCP 交互架构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103120"/>
            <a:ext cx="4572000" cy="105156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1945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MCPFlow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487168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Agent 节点执行器</a:t>
            </a:r>
            <a:br/>
            <a:r>
              <a:t>collectMCPTools()</a:t>
            </a:r>
            <a:br/>
            <a:r>
              <a:t>→ 多 Server 聚合工具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961120" y="3200400"/>
            <a:ext cx="274320" cy="137160"/>
          </a:xfrm>
          <a:prstGeom prst="downArrow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0" y="3383280"/>
            <a:ext cx="4572000" cy="105156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4747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MCP-Go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767328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github.com/mark3labs/mcp-go</a:t>
            </a:r>
            <a:br/>
            <a:r>
              <a:t>Streamable HTTP Transport</a:t>
            </a:r>
            <a:br/>
            <a:r>
              <a:t>SSE Transport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961120" y="4480560"/>
            <a:ext cx="274320" cy="137160"/>
          </a:xfrm>
          <a:prstGeom prst="downArrow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0" y="4663440"/>
            <a:ext cx="4572000" cy="105156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47548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MCP Servers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047488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文件系统 · 数据库</a:t>
            </a:r>
            <a:br/>
            <a:r>
              <a:t>API网关 · 搜索引擎</a:t>
            </a:r>
            <a:br/>
            <a:r>
              <a:t>自定义工具服务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MCPFlow · 毕业答辩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8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2FF"/>
                </a:solidFill>
                <a:latin typeface="Microsoft YaHei"/>
              </a:defRPr>
            </a:pPr>
            <a:r>
              <a:t>前端可视化设计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371600" cy="548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6400800" cy="100584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可视化工作流编辑器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React Flow 实现拖拽式 DAG 编辑</a:t>
            </a:r>
            <a:br/>
            <a:r>
              <a:t>8种节点从侧边栏拖入画布</a:t>
            </a:r>
            <a:br/>
            <a:r>
              <a:t>连线定义数据流向与条件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6400800" cy="100584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Microsoft YaHei"/>
              </a:defRPr>
            </a:pPr>
            <a:r>
              <a:t>实时执行监控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461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节点状态颜色标记（运行中/成功/失败/跳过）</a:t>
            </a:r>
            <a:br/>
            <a:r>
              <a:t>执行计时 + 节点输出预览</a:t>
            </a:r>
            <a:br/>
            <a:r>
              <a:t>Agent 步骤链式展开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6400800" cy="100584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8EE"/>
                </a:solidFill>
                <a:latin typeface="Microsoft YaHei"/>
              </a:defRPr>
            </a:pPr>
            <a:r>
              <a:t>配置管理面板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LLM Provider (BaseURL + APIKey)</a:t>
            </a:r>
            <a:br/>
            <a:r>
              <a:t>MCP Server 注册 (URL + Headers)</a:t>
            </a:r>
            <a:br/>
            <a:r>
              <a:t>一键测试连接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74920"/>
            <a:ext cx="6400800" cy="100584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F08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8C2E"/>
                </a:solidFill>
                <a:latin typeface="Microsoft YaHei"/>
              </a:defRPr>
            </a:pPr>
            <a:r>
              <a:t>Agent 调试视图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321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Chat 界面实时交互</a:t>
            </a:r>
            <a:br/>
            <a:r>
              <a:t>MCP CallTool 独立测试</a:t>
            </a:r>
            <a:br/>
            <a:r>
              <a:t>SSE 流式输出展示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8EE"/>
                </a:solidFill>
                <a:latin typeface="Microsoft YaHei"/>
              </a:defRPr>
            </a:pPr>
            <a:r>
              <a:t>▸ 前端技术栈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React 18 + TypeScript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Vite 6 构建工具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React Router v7 路由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React Flow 流程图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Ant Design 组件库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Axios HTTP 客户端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• Docker + Nginx 部署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MCPFlow · 毕业答辩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9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2FF"/>
                </a:solidFill>
                <a:latin typeface="Microsoft YaHei"/>
              </a:defRPr>
            </a:pPr>
            <a:r>
              <a:t>实验与评估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371600" cy="548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▸ 功能测试覆盖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Microsoft YaHei"/>
              </a:defRPr>
            </a:pPr>
            <a:r>
              <a:t>工作流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创建/编辑/删除/复制工作流，自增ID，JSON导入导出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Microsoft YaHei"/>
              </a:defRPr>
            </a:pPr>
            <a:r>
              <a:t>DAG 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拓扑排序正确性，条件分支跳转，节点间上下文传递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Microsoft YaHei"/>
              </a:defRPr>
            </a:pPr>
            <a:r>
              <a:t>MCP 集成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Streamable HTTP / SSE 双模连接，多 Server 工具聚合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Microsoft YaHei"/>
              </a:defRPr>
            </a:pPr>
            <a:r>
              <a:t>Agent 协作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多智能体迭代推理，工具调用链可视化，max_iteration 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Microsoft YaHei"/>
              </a:defRPr>
            </a:pPr>
            <a:r>
              <a:t>异常容错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MCP 断连重试，节点超时处理，错误状态记录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68EE"/>
                </a:solidFill>
                <a:latin typeface="Microsoft YaHei"/>
              </a:defRPr>
            </a:pPr>
            <a:r>
              <a:t>▸ 横向对比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103120"/>
            <a:ext cx="1828800" cy="59436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特性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103120"/>
            <a:ext cx="2560320" cy="59436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MCPFlow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247120" y="2103120"/>
            <a:ext cx="2560320" cy="59436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LangChain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807440" y="2103120"/>
            <a:ext cx="2560320" cy="59436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AutoGen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2697480"/>
            <a:ext cx="1828800" cy="594360"/>
          </a:xfrm>
          <a:prstGeom prst="round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可视化编排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2697480"/>
            <a:ext cx="2560320" cy="59436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4EC9B0"/>
                </a:solidFill>
                <a:latin typeface="Microsoft YaHei"/>
              </a:defRPr>
            </a:pPr>
            <a:r>
              <a:t>✅ 拖拽画布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247120" y="2697480"/>
            <a:ext cx="2560320" cy="594360"/>
          </a:xfrm>
          <a:prstGeom prst="round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❌ 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807440" y="2697480"/>
            <a:ext cx="2560320" cy="594360"/>
          </a:xfrm>
          <a:prstGeom prst="round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❌ 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291840"/>
            <a:ext cx="1828800" cy="594360"/>
          </a:xfrm>
          <a:prstGeom prst="round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MCP 协议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3291840"/>
            <a:ext cx="2560320" cy="59436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4EC9B0"/>
                </a:solidFill>
                <a:latin typeface="Microsoft YaHei"/>
              </a:defRPr>
            </a:pPr>
            <a:r>
              <a:t>✅ 双模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247120" y="3291840"/>
            <a:ext cx="2560320" cy="594360"/>
          </a:xfrm>
          <a:prstGeom prst="round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⚠️ 社区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807440" y="3291840"/>
            <a:ext cx="2560320" cy="594360"/>
          </a:xfrm>
          <a:prstGeom prst="round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⚠️ 社区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886200"/>
            <a:ext cx="1828800" cy="594360"/>
          </a:xfrm>
          <a:prstGeom prst="round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纯 Go 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3886200"/>
            <a:ext cx="2560320" cy="59436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4EC9B0"/>
                </a:solidFill>
                <a:latin typeface="Microsoft YaHei"/>
              </a:defRPr>
            </a:pPr>
            <a:r>
              <a:t>✅ 轻量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47120" y="3886200"/>
            <a:ext cx="2560320" cy="594360"/>
          </a:xfrm>
          <a:prstGeom prst="round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❌ Python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807440" y="3886200"/>
            <a:ext cx="2560320" cy="594360"/>
          </a:xfrm>
          <a:prstGeom prst="round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❌ Python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4480560"/>
            <a:ext cx="1828800" cy="594360"/>
          </a:xfrm>
          <a:prstGeom prst="round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Docker 部署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4480560"/>
            <a:ext cx="2560320" cy="59436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4EC9B0"/>
                </a:solidFill>
                <a:latin typeface="Microsoft YaHei"/>
              </a:defRPr>
            </a:pPr>
            <a:r>
              <a:t>✅ 一行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47120" y="4480560"/>
            <a:ext cx="2560320" cy="594360"/>
          </a:xfrm>
          <a:prstGeom prst="round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⚠️ 复杂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807440" y="4480560"/>
            <a:ext cx="2560320" cy="594360"/>
          </a:xfrm>
          <a:prstGeom prst="round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⚠️ 复杂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▸ 一键部署：docker compose up -d (Nginx + Go Backend + MongoDB)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前端 (port 80) → Go API (port 8080) → MongoDB (port 27017)    |    内存 &lt; 100MB, 冷启动 &lt; 2s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MCPFlow · 毕业答辩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2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371600" cy="548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▸ 工作总结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✓ 设计并实现了基于 DAG 的可视化工作流编排引擎，支持 8 种节点类型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060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✓ 深度集成 MCP 协议 (Streamable HTTP + SSE)，实现多智能体工具的动态发现与调用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✓ 构建了完整的前端可视化界面，支持拖拽编排、实时执行监控、Agent 调试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11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✓ 采用 Go + MongoDB + React 全栈架构，通过 Docker Compose 实现一键部署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8EE"/>
                </a:solidFill>
                <a:latin typeface="Microsoft YaHei"/>
              </a:defRPr>
            </a:pPr>
            <a:r>
              <a:t>▸ 主要创新点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006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  <a:latin typeface="Microsoft YaHei"/>
              </a:defRPr>
            </a:pPr>
            <a:r>
              <a:t>✦ MCP 双模连接：同时支持 Streamable HTTP 与 SSE 两种传输模式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2578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  <a:latin typeface="Microsoft YaHei"/>
              </a:defRPr>
            </a:pPr>
            <a:r>
              <a:t>✦ 工具动态发现：运行时自动发现 MCP Server 工具集，无需预注册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7150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  <a:latin typeface="Microsoft YaHei"/>
              </a:defRPr>
            </a:pPr>
            <a:r>
              <a:t>✦ 模板变量解析：跨节点的上下文变量引用 {{node_id.field}}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68EE"/>
                </a:solidFill>
                <a:latin typeface="Microsoft YaHei"/>
              </a:defRPr>
            </a:pPr>
            <a:r>
              <a:t>▸ 未来工作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103120"/>
            <a:ext cx="3657600" cy="82296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配置安全增强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487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API Key 脱敏存储，配置热加载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108960"/>
            <a:ext cx="3657600" cy="82296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性能优化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493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MCP 客户端连接池，节点并行执行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114800"/>
            <a:ext cx="3657600" cy="82296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生产级特性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498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超时控制，断点重试，执行回滚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5120640"/>
            <a:ext cx="3657600" cy="82296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生态扩展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504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更多节点类型，插件市场，社区模板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2FF"/>
                </a:solidFill>
                <a:latin typeface="Microsoft YaHei"/>
              </a:defRPr>
            </a:pPr>
            <a:r>
              <a:t>致  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743200"/>
            <a:ext cx="3017520" cy="548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本项目的完成离不开各位老师和同学的帮助与支持。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</a:p>
          <a:p>
            <a:pPr algn="ctr">
              <a:spcAft>
                <a:spcPts val="4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衷心感谢指导教师 XXX 教授在选题方向、技术方案和论文撰写上的悉心指导。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感谢各位评审老师在答辩过程中的宝贵意见。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感谢实验室同学在系统测试阶段提供的反馈和建议。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</a:p>
          <a:p>
            <a:pPr algn="ctr">
              <a:spcAft>
                <a:spcPts val="4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感谢 Anthropic 团队提出的 MCP 协议，为 AI 工具交互提供了标准化方案。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感谢开源社区 mark3labs/mcp-go 等项目的贡献。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感谢聆听 · 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