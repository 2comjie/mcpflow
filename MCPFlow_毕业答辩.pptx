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60F1E"/>
            </a:gs>
            <a:gs pos="100000">
              <a:srgbClr val="0D1B2A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>
              <a:gd name="adj" fmla="val 5000"/>
            </a:avLst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371600"/>
            <a:ext cx="36576" cy="2286000"/>
          </a:xfrm>
          <a:prstGeom prst="roundRect">
            <a:avLst>
              <a:gd name="adj" fmla="val 5000"/>
            </a:avLst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645920" y="1371600"/>
            <a:ext cx="1645920" cy="347472"/>
          </a:xfrm>
          <a:prstGeom prst="roundRect">
            <a:avLst>
              <a:gd name="adj" fmla="val 5000"/>
            </a:avLst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MCPFlow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96596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基于 MCP 协议的多智能体工作流编排平台的设计与实现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45920" y="2926080"/>
            <a:ext cx="2743200" cy="27432"/>
          </a:xfrm>
          <a:prstGeom prst="roundRect">
            <a:avLst>
              <a:gd name="adj" fmla="val 5000"/>
            </a:avLst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320040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答辩人：郑银杰</a:t>
            </a:r>
          </a:p>
          <a:p>
            <a:pPr algn="l">
              <a:spcAft>
                <a:spcPts val="100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专　业：计算机科学与技术</a:t>
            </a:r>
          </a:p>
          <a:p>
            <a:pPr algn="l">
              <a:spcAft>
                <a:spcPts val="100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学　院：计算机学院（人工智能学院）</a:t>
            </a:r>
          </a:p>
          <a:p>
            <a:pPr algn="l">
              <a:spcAft>
                <a:spcPts val="100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指导教师：唐菀 教授</a:t>
            </a:r>
          </a:p>
          <a:p>
            <a:pPr algn="l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答辩日期：2026年5月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0" y="1463040"/>
            <a:ext cx="2286000" cy="4572"/>
          </a:xfrm>
          <a:prstGeom prst="roundRect">
            <a:avLst>
              <a:gd name="adj" fmla="val 5000"/>
            </a:avLst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0" y="2560320"/>
            <a:ext cx="2286000" cy="4572"/>
          </a:xfrm>
          <a:prstGeom prst="roundRect">
            <a:avLst>
              <a:gd name="adj" fmla="val 5000"/>
            </a:avLst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0" y="3657600"/>
            <a:ext cx="2286000" cy="4572"/>
          </a:xfrm>
          <a:prstGeom prst="roundRect">
            <a:avLst>
              <a:gd name="adj" fmla="val 5000"/>
            </a:avLst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515600" y="5486400"/>
            <a:ext cx="1097280" cy="1097280"/>
          </a:xfrm>
          <a:prstGeom prst="ellipse">
            <a:avLst/>
          </a:prstGeom>
          <a:solidFill>
            <a:srgbClr val="0A2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155680" y="5943600"/>
            <a:ext cx="548640" cy="548640"/>
          </a:xfrm>
          <a:prstGeom prst="ellipse">
            <a:avLst/>
          </a:prstGeom>
          <a:solidFill>
            <a:srgbClr val="14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0" y="6803136"/>
            <a:ext cx="12191695" cy="54864"/>
          </a:xfrm>
          <a:prstGeom prst="roundRect">
            <a:avLst>
              <a:gd name="adj" fmla="val 5000"/>
            </a:avLst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60F1E"/>
            </a:gs>
            <a:gs pos="100000">
              <a:srgbClr val="0D1B2A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45720"/>
          </a:xfrm>
          <a:prstGeom prst="roundRect">
            <a:avLst>
              <a:gd name="adj" fmla="val 5000"/>
            </a:avLst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目　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22960"/>
            <a:ext cx="137160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71600" y="1234440"/>
            <a:ext cx="365760" cy="365760"/>
          </a:xfrm>
          <a:prstGeom prst="ellipse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1261872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26187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研究背景与项目目标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11680" y="1691640"/>
            <a:ext cx="7772400" cy="9144"/>
          </a:xfrm>
          <a:prstGeom prst="roundRect">
            <a:avLst>
              <a:gd name="adj" fmla="val 5000"/>
            </a:avLst>
          </a:prstGeom>
          <a:solidFill>
            <a:srgbClr val="2A4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71600" y="1920240"/>
            <a:ext cx="365760" cy="365760"/>
          </a:xfrm>
          <a:prstGeom prst="ellipse">
            <a:avLst/>
          </a:prstGeom>
          <a:solidFill>
            <a:srgbClr val="4EC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63040" y="1947672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194767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技术选型与系统架构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11680" y="2377440"/>
            <a:ext cx="7772400" cy="9144"/>
          </a:xfrm>
          <a:prstGeom prst="roundRect">
            <a:avLst>
              <a:gd name="adj" fmla="val 5000"/>
            </a:avLst>
          </a:prstGeom>
          <a:solidFill>
            <a:srgbClr val="2A4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71600" y="2606040"/>
            <a:ext cx="365760" cy="365760"/>
          </a:xfrm>
          <a:prstGeom prst="ellipse">
            <a:avLst/>
          </a:prstGeom>
          <a:solidFill>
            <a:srgbClr val="FF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63040" y="2633472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263347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DAG 工作流引擎设计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011680" y="3063240"/>
            <a:ext cx="7772400" cy="9144"/>
          </a:xfrm>
          <a:prstGeom prst="roundRect">
            <a:avLst>
              <a:gd name="adj" fmla="val 5000"/>
            </a:avLst>
          </a:prstGeom>
          <a:solidFill>
            <a:srgbClr val="2A4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71600" y="3291840"/>
            <a:ext cx="365760" cy="365760"/>
          </a:xfrm>
          <a:prstGeom prst="ellipse">
            <a:avLst/>
          </a:prstGeom>
          <a:solidFill>
            <a:srgbClr val="A0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63040" y="3319272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331927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Agent 与 MCP 工具调用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011680" y="3749040"/>
            <a:ext cx="7772400" cy="9144"/>
          </a:xfrm>
          <a:prstGeom prst="roundRect">
            <a:avLst>
              <a:gd name="adj" fmla="val 5000"/>
            </a:avLst>
          </a:prstGeom>
          <a:solidFill>
            <a:srgbClr val="2A4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71600" y="3977640"/>
            <a:ext cx="365760" cy="365760"/>
          </a:xfrm>
          <a:prstGeom prst="ellipse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63040" y="4005072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400507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系统功能模块展示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011680" y="4434840"/>
            <a:ext cx="7772400" cy="9144"/>
          </a:xfrm>
          <a:prstGeom prst="roundRect">
            <a:avLst>
              <a:gd name="adj" fmla="val 5000"/>
            </a:avLst>
          </a:prstGeom>
          <a:solidFill>
            <a:srgbClr val="2A4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71600" y="4663440"/>
            <a:ext cx="365760" cy="365760"/>
          </a:xfrm>
          <a:prstGeom prst="ellipse">
            <a:avLst/>
          </a:prstGeom>
          <a:solidFill>
            <a:srgbClr val="F08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63040" y="4690872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1680" y="469087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项目运行效果展示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011680" y="5120640"/>
            <a:ext cx="7772400" cy="9144"/>
          </a:xfrm>
          <a:prstGeom prst="roundRect">
            <a:avLst>
              <a:gd name="adj" fmla="val 5000"/>
            </a:avLst>
          </a:prstGeom>
          <a:solidFill>
            <a:srgbClr val="2A4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71600" y="5349240"/>
            <a:ext cx="365760" cy="365760"/>
          </a:xfrm>
          <a:prstGeom prst="ellipse">
            <a:avLst/>
          </a:prstGeom>
          <a:solidFill>
            <a:srgbClr val="4EC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463040" y="5376672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11680" y="537667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测试结果与项目总结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C8D6E5"/>
                </a:solidFill>
                <a:latin typeface="Microsoft YaHei"/>
              </a:defRPr>
            </a:pPr>
            <a:r>
              <a:t>2/15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45720"/>
          </a:xfrm>
          <a:prstGeom prst="roundRect">
            <a:avLst>
              <a:gd name="adj" fmla="val 5000"/>
            </a:avLst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研究背景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77240"/>
            <a:ext cx="137160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C8D6E5"/>
                </a:solidFill>
                <a:latin typeface="Microsoft YaHei"/>
              </a:defRPr>
            </a:pPr>
            <a:r>
              <a:t>3/15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3291840" cy="2743200"/>
          </a:xfrm>
          <a:prstGeom prst="roundRect">
            <a:avLst>
              <a:gd name="adj" fmla="val 5000"/>
            </a:avLst>
          </a:prstGeom>
          <a:solidFill>
            <a:srgbClr val="1B2E4A"/>
          </a:solidFill>
          <a:ln w="12700">
            <a:solidFill>
              <a:srgbClr val="2A4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188720"/>
            <a:ext cx="3291840" cy="45720"/>
          </a:xfrm>
          <a:prstGeom prst="roundRect">
            <a:avLst>
              <a:gd name="adj" fmla="val 5000"/>
            </a:avLst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41732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LLM 与 Agent 爆发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920240"/>
            <a:ext cx="2834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6E5"/>
                </a:solidFill>
                <a:latin typeface="Microsoft YaHei"/>
              </a:defRPr>
            </a:pPr>
            <a:r>
              <a:t>大语言模型能力快速提升，AI Agent 从单一问答走向多步骤自主任务执行，对工具调用和流程编排提出更高要求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188720"/>
            <a:ext cx="3291840" cy="2743200"/>
          </a:xfrm>
          <a:prstGeom prst="roundRect">
            <a:avLst>
              <a:gd name="adj" fmla="val 5000"/>
            </a:avLst>
          </a:prstGeom>
          <a:solidFill>
            <a:srgbClr val="1B2E4A"/>
          </a:solidFill>
          <a:ln w="12700">
            <a:solidFill>
              <a:srgbClr val="2A4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89120" y="1188720"/>
            <a:ext cx="3291840" cy="45720"/>
          </a:xfrm>
          <a:prstGeom prst="roundRect">
            <a:avLst>
              <a:gd name="adj" fmla="val 5000"/>
            </a:avLst>
          </a:prstGeom>
          <a:solidFill>
            <a:srgbClr val="4EC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41732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MCP 协议标准化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1920240"/>
            <a:ext cx="2834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6E5"/>
                </a:solidFill>
                <a:latin typeface="Microsoft YaHei"/>
              </a:defRPr>
            </a:pPr>
            <a:r>
              <a:t>Model Context Protocol 提供统一的工具接入规范，使 Agent 能够跨平台发现和调用外部工具，打破能力边界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188720"/>
            <a:ext cx="3291840" cy="2743200"/>
          </a:xfrm>
          <a:prstGeom prst="roundRect">
            <a:avLst>
              <a:gd name="adj" fmla="val 5000"/>
            </a:avLst>
          </a:prstGeom>
          <a:solidFill>
            <a:srgbClr val="1B2E4A"/>
          </a:solidFill>
          <a:ln w="12700">
            <a:solidFill>
              <a:srgbClr val="2A4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46720" y="1188720"/>
            <a:ext cx="3291840" cy="45720"/>
          </a:xfrm>
          <a:prstGeom prst="roundRect">
            <a:avLst>
              <a:gd name="adj" fmla="val 5000"/>
            </a:avLst>
          </a:prstGeom>
          <a:solidFill>
            <a:srgbClr val="FF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141732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编排工具缺位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1920240"/>
            <a:ext cx="2834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6E5"/>
                </a:solidFill>
                <a:latin typeface="Microsoft YaHei"/>
              </a:defRPr>
            </a:pPr>
            <a:r>
              <a:t>现有工作流平台多为 SaaS 服务，部署受限；缺少面向多智能体协作的开源、轻量级编排解决方案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297680"/>
            <a:ext cx="10698480" cy="548640"/>
          </a:xfrm>
          <a:prstGeom prst="roundRect">
            <a:avLst>
              <a:gd name="adj" fmla="val 5000"/>
            </a:avLst>
          </a:prstGeom>
          <a:solidFill>
            <a:srgbClr val="1B2E4A"/>
          </a:solidFill>
          <a:ln w="12700">
            <a:solidFill>
              <a:srgbClr val="2A4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3891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核心痛点：复杂 AI 任务需多步骤、多工具协作 → 缺少标准化、可视化的多智能体编排平台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120640"/>
            <a:ext cx="10698480" cy="1371600"/>
          </a:xfrm>
          <a:prstGeom prst="roundRect">
            <a:avLst>
              <a:gd name="adj" fmla="val 5000"/>
            </a:avLst>
          </a:prstGeom>
          <a:solidFill>
            <a:srgbClr val="1B2E4A"/>
          </a:solidFill>
          <a:ln w="12700">
            <a:solidFill>
              <a:srgbClr val="2A4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52120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D6"/>
                </a:solidFill>
                <a:latin typeface="Microsoft YaHei"/>
              </a:defRPr>
            </a:pPr>
            <a:r>
              <a:t>🔌 MCP (Model Context Protocol)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6235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• MCP 是 Anthropic 提出的开放协议，定义了大模型与外部工具/数据源之间的标准化交互方式</a:t>
            </a:r>
          </a:p>
          <a:p>
            <a:pPr algn="l">
              <a:spcAft>
                <a:spcPts val="8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• 类似"AI 应用的 USB-C 接口"：一次接入 MCP Server，所有兼容 Agent 均可使用其工具</a:t>
            </a:r>
          </a:p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• 本项目将 MCP 协议集成到工作流引擎中，使 Agent 节点能自动发现并调用外部 MCP Server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C8D6E5"/>
                </a:solidFill>
                <a:latin typeface="Microsoft YaHei"/>
              </a:defRPr>
            </a:pPr>
            <a:r>
              <a:t>3/15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45720"/>
          </a:xfrm>
          <a:prstGeom prst="roundRect">
            <a:avLst>
              <a:gd name="adj" fmla="val 5000"/>
            </a:avLst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项目目标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77240"/>
            <a:ext cx="137160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C8D6E5"/>
                </a:solidFill>
                <a:latin typeface="Microsoft YaHei"/>
              </a:defRPr>
            </a:pPr>
            <a:r>
              <a:t>4/15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3291840" cy="3200400"/>
          </a:xfrm>
          <a:prstGeom prst="roundRect">
            <a:avLst>
              <a:gd name="adj" fmla="val 5000"/>
            </a:avLst>
          </a:prstGeom>
          <a:solidFill>
            <a:srgbClr val="1B2E4A"/>
          </a:solidFill>
          <a:ln w="12700">
            <a:solidFill>
              <a:srgbClr val="4EC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88720" y="1463040"/>
            <a:ext cx="2377440" cy="548640"/>
          </a:xfrm>
          <a:prstGeom prst="roundRect">
            <a:avLst>
              <a:gd name="adj" fmla="val 5000"/>
            </a:avLst>
          </a:prstGeom>
          <a:solidFill>
            <a:srgbClr val="4EC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低代码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86000"/>
            <a:ext cx="2834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8D6E5"/>
                </a:solidFill>
                <a:latin typeface="Microsoft YaHei"/>
              </a:defRPr>
            </a:pPr>
            <a:r>
              <a:t>通过可视化拖拽编排工作流</a:t>
            </a:r>
            <a:br/>
            <a:r>
              <a:t>降低 AI 流程构建门槛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188720"/>
            <a:ext cx="3291840" cy="3200400"/>
          </a:xfrm>
          <a:prstGeom prst="roundRect">
            <a:avLst>
              <a:gd name="adj" fmla="val 5000"/>
            </a:avLst>
          </a:prstGeom>
          <a:solidFill>
            <a:srgbClr val="1B2E4A"/>
          </a:solidFill>
          <a:ln w="12700">
            <a:solidFill>
              <a:srgbClr val="2A4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846320" y="1463040"/>
            <a:ext cx="2377440" cy="548640"/>
          </a:xfrm>
          <a:prstGeom prst="roundRect">
            <a:avLst>
              <a:gd name="adj" fmla="val 5000"/>
            </a:avLst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可扩展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286000"/>
            <a:ext cx="2834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8D6E5"/>
                </a:solidFill>
                <a:latin typeface="Microsoft YaHei"/>
              </a:defRPr>
            </a:pPr>
            <a:r>
              <a:t>支持 8 种节点类型</a:t>
            </a:r>
            <a:br/>
            <a:r>
              <a:t>灵活接入 MCP 外部工具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188720"/>
            <a:ext cx="3291840" cy="3200400"/>
          </a:xfrm>
          <a:prstGeom prst="roundRect">
            <a:avLst>
              <a:gd name="adj" fmla="val 5000"/>
            </a:avLst>
          </a:prstGeom>
          <a:solidFill>
            <a:srgbClr val="1B2E4A"/>
          </a:solidFill>
          <a:ln w="12700">
            <a:solidFill>
              <a:srgbClr val="2A4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503920" y="1463040"/>
            <a:ext cx="2377440" cy="548640"/>
          </a:xfrm>
          <a:prstGeom prst="roundRect">
            <a:avLst>
              <a:gd name="adj" fmla="val 5000"/>
            </a:avLst>
          </a:prstGeom>
          <a:solidFill>
            <a:srgbClr val="FF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易部署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286000"/>
            <a:ext cx="2834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8D6E5"/>
                </a:solidFill>
                <a:latin typeface="Microsoft YaHei"/>
              </a:defRPr>
            </a:pPr>
            <a:r>
              <a:t>前后端分离 + 容器化</a:t>
            </a:r>
            <a:br/>
            <a:r>
              <a:t>Docker Compose 一键启动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663440"/>
            <a:ext cx="10698480" cy="1920240"/>
          </a:xfrm>
          <a:prstGeom prst="roundRect">
            <a:avLst>
              <a:gd name="adj" fmla="val 5000"/>
            </a:avLst>
          </a:prstGeom>
          <a:solidFill>
            <a:srgbClr val="1B2E4A"/>
          </a:solidFill>
          <a:ln w="12700">
            <a:solidFill>
              <a:srgbClr val="2A4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7548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D6"/>
                </a:solidFill>
                <a:latin typeface="Microsoft YaHei"/>
              </a:defRPr>
            </a:pPr>
            <a:r>
              <a:t>📋 项目核心功能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1663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D6"/>
                </a:solidFill>
                <a:latin typeface="Microsoft YaHei"/>
              </a:defRPr>
            </a:pPr>
            <a:r>
              <a:t>▸ 工作流可视化编排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54406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D6E5"/>
                </a:solidFill>
                <a:latin typeface="Microsoft YaHei"/>
              </a:defRPr>
            </a:pPr>
            <a:r>
              <a:t>拖拽节点、连线、配置与保存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51663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EC98F"/>
                </a:solidFill>
                <a:latin typeface="Microsoft YaHei"/>
              </a:defRPr>
            </a:pPr>
            <a:r>
              <a:t>▸ DAG 工作流执行引擎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54406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D6E5"/>
                </a:solidFill>
                <a:latin typeface="Microsoft YaHei"/>
              </a:defRPr>
            </a:pPr>
            <a:r>
              <a:t>拓扑排序、条件分支、变量传递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51663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A050"/>
                </a:solidFill>
                <a:latin typeface="Microsoft YaHei"/>
              </a:defRPr>
            </a:pPr>
            <a:r>
              <a:t>▸ Agent 节点工具调用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54406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D6E5"/>
                </a:solidFill>
                <a:latin typeface="Microsoft YaHei"/>
              </a:defRPr>
            </a:pPr>
            <a:r>
              <a:t>MCP 工具发现 + Function Calling 循环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8064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A080FF"/>
                </a:solidFill>
                <a:latin typeface="Microsoft YaHei"/>
              </a:defRPr>
            </a:pPr>
            <a:r>
              <a:t>▸ 执行监控与日志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60807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D6E5"/>
                </a:solidFill>
                <a:latin typeface="Microsoft YaHei"/>
              </a:defRPr>
            </a:pPr>
            <a:r>
              <a:t>SSE 实时推送、步骤详情记录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58064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08060"/>
                </a:solidFill>
                <a:latin typeface="Microsoft YaHei"/>
              </a:defRPr>
            </a:pPr>
            <a:r>
              <a:t>▸ 容器化部署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0" y="60807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D6E5"/>
                </a:solidFill>
                <a:latin typeface="Microsoft YaHei"/>
              </a:defRPr>
            </a:pPr>
            <a:r>
              <a:t>Docker Compose 一键启动全栈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58064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8CAE4"/>
                </a:solidFill>
                <a:latin typeface="Microsoft YaHei"/>
              </a:defRPr>
            </a:pPr>
            <a:r>
              <a:t>▸ MCP Server 管理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60807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D6E5"/>
                </a:solidFill>
                <a:latin typeface="Microsoft YaHei"/>
              </a:defRPr>
            </a:pPr>
            <a:r>
              <a:t>注册、连接检测、工具发现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C8D6E5"/>
                </a:solidFill>
                <a:latin typeface="Microsoft YaHei"/>
              </a:defRPr>
            </a:pPr>
            <a:r>
              <a:t>4/15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45720"/>
          </a:xfrm>
          <a:prstGeom prst="roundRect">
            <a:avLst>
              <a:gd name="adj" fmla="val 5000"/>
            </a:avLst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技术选型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77240"/>
            <a:ext cx="137160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C8D6E5"/>
                </a:solidFill>
                <a:latin typeface="Microsoft YaHei"/>
              </a:defRPr>
            </a:pPr>
            <a:r>
              <a:t>5/15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097280"/>
            <a:ext cx="3291840" cy="3840480"/>
          </a:xfrm>
          <a:prstGeom prst="roundRect">
            <a:avLst>
              <a:gd name="adj" fmla="val 5000"/>
            </a:avLst>
          </a:prstGeom>
          <a:solidFill>
            <a:srgbClr val="1B2E4A"/>
          </a:solidFill>
          <a:ln w="127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2344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D6"/>
                </a:solidFill>
                <a:latin typeface="Microsoft YaHei"/>
              </a:defRPr>
            </a:pPr>
            <a:r>
              <a:t>🖥 前端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1828800"/>
            <a:ext cx="1188720" cy="365760"/>
          </a:xfrm>
          <a:prstGeom prst="roundRect">
            <a:avLst>
              <a:gd name="adj" fmla="val 5000"/>
            </a:avLst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React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18745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D6E5"/>
                </a:solidFill>
                <a:latin typeface="Microsoft YaHei"/>
              </a:defRPr>
            </a:pPr>
            <a:r>
              <a:t>组件化 UI 框架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2377440"/>
            <a:ext cx="1188720" cy="365760"/>
          </a:xfrm>
          <a:prstGeom prst="roundRect">
            <a:avLst>
              <a:gd name="adj" fmla="val 5000"/>
            </a:avLst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TypeScript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24231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D6E5"/>
                </a:solidFill>
                <a:latin typeface="Microsoft YaHei"/>
              </a:defRPr>
            </a:pPr>
            <a:r>
              <a:t>类型安全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" y="2926080"/>
            <a:ext cx="1188720" cy="365760"/>
          </a:xfrm>
          <a:prstGeom prst="roundRect">
            <a:avLst>
              <a:gd name="adj" fmla="val 5000"/>
            </a:avLst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XYFlow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297180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D6E5"/>
                </a:solidFill>
                <a:latin typeface="Microsoft YaHei"/>
              </a:defRPr>
            </a:pPr>
            <a:r>
              <a:t>流程可视化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" y="3474719"/>
            <a:ext cx="1188720" cy="365760"/>
          </a:xfrm>
          <a:prstGeom prst="roundRect">
            <a:avLst>
              <a:gd name="adj" fmla="val 5000"/>
            </a:avLst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Ant 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3520439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D6E5"/>
                </a:solidFill>
                <a:latin typeface="Microsoft YaHei"/>
              </a:defRPr>
            </a:pPr>
            <a:r>
              <a:t>UI 组件库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" y="4023360"/>
            <a:ext cx="1188720" cy="365760"/>
          </a:xfrm>
          <a:prstGeom prst="roundRect">
            <a:avLst>
              <a:gd name="adj" fmla="val 5000"/>
            </a:avLst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Vite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406908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D6E5"/>
                </a:solidFill>
                <a:latin typeface="Microsoft YaHei"/>
              </a:defRPr>
            </a:pPr>
            <a:r>
              <a:t>构建工具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1097280"/>
            <a:ext cx="3291840" cy="3840480"/>
          </a:xfrm>
          <a:prstGeom prst="roundRect">
            <a:avLst>
              <a:gd name="adj" fmla="val 5000"/>
            </a:avLst>
          </a:prstGeom>
          <a:solidFill>
            <a:srgbClr val="1B2E4A"/>
          </a:solidFill>
          <a:ln w="12700">
            <a:solidFill>
              <a:srgbClr val="4EC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12344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C98F"/>
                </a:solidFill>
                <a:latin typeface="Microsoft YaHei"/>
              </a:defRPr>
            </a:pPr>
            <a:r>
              <a:t>⚙️ 后端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17720" y="1828800"/>
            <a:ext cx="1188720" cy="365760"/>
          </a:xfrm>
          <a:prstGeom prst="roundRect">
            <a:avLst>
              <a:gd name="adj" fmla="val 5000"/>
            </a:avLst>
          </a:prstGeom>
          <a:solidFill>
            <a:srgbClr val="4EC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Go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18745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D6E5"/>
                </a:solidFill>
                <a:latin typeface="Microsoft YaHei"/>
              </a:defRPr>
            </a:pPr>
            <a:r>
              <a:t>高性能编译语言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17720" y="2377440"/>
            <a:ext cx="1188720" cy="365760"/>
          </a:xfrm>
          <a:prstGeom prst="roundRect">
            <a:avLst>
              <a:gd name="adj" fmla="val 5000"/>
            </a:avLst>
          </a:prstGeom>
          <a:solidFill>
            <a:srgbClr val="4EC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Gin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24231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D6E5"/>
                </a:solidFill>
                <a:latin typeface="Microsoft YaHei"/>
              </a:defRPr>
            </a:pPr>
            <a:r>
              <a:t>HTTP Web 框架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17720" y="2926080"/>
            <a:ext cx="1188720" cy="365760"/>
          </a:xfrm>
          <a:prstGeom prst="roundRect">
            <a:avLst>
              <a:gd name="adj" fmla="val 5000"/>
            </a:avLst>
          </a:prstGeom>
          <a:solidFill>
            <a:srgbClr val="4EC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mcp-go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297180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D6E5"/>
                </a:solidFill>
                <a:latin typeface="Microsoft YaHei"/>
              </a:defRPr>
            </a:pPr>
            <a:r>
              <a:t>MCP 协议实现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17720" y="3474719"/>
            <a:ext cx="1188720" cy="365760"/>
          </a:xfrm>
          <a:prstGeom prst="roundRect">
            <a:avLst>
              <a:gd name="adj" fmla="val 5000"/>
            </a:avLst>
          </a:prstGeom>
          <a:solidFill>
            <a:srgbClr val="4EC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Goja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3520439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D6E5"/>
                </a:solidFill>
                <a:latin typeface="Microsoft YaHei"/>
              </a:defRPr>
            </a:pPr>
            <a:r>
              <a:t>JS 沙箱执行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17720" y="4023360"/>
            <a:ext cx="1188720" cy="365760"/>
          </a:xfrm>
          <a:prstGeom prst="roundRect">
            <a:avLst>
              <a:gd name="adj" fmla="val 5000"/>
            </a:avLst>
          </a:prstGeom>
          <a:solidFill>
            <a:srgbClr val="4EC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expr-lang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406908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D6E5"/>
                </a:solidFill>
                <a:latin typeface="Microsoft YaHei"/>
              </a:defRPr>
            </a:pPr>
            <a:r>
              <a:t>表达式求值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20" y="1097280"/>
            <a:ext cx="3291840" cy="3840480"/>
          </a:xfrm>
          <a:prstGeom prst="roundRect">
            <a:avLst>
              <a:gd name="adj" fmla="val 5000"/>
            </a:avLst>
          </a:prstGeom>
          <a:solidFill>
            <a:srgbClr val="1B2E4A"/>
          </a:solidFill>
          <a:ln w="12700">
            <a:solidFill>
              <a:srgbClr val="FFA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0" y="12344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A050"/>
                </a:solidFill>
                <a:latin typeface="Microsoft YaHei"/>
              </a:defRPr>
            </a:pPr>
            <a:r>
              <a:t>🗄 数据与部署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75320" y="1828800"/>
            <a:ext cx="1188720" cy="365760"/>
          </a:xfrm>
          <a:prstGeom prst="roundRect">
            <a:avLst>
              <a:gd name="adj" fmla="val 5000"/>
            </a:avLst>
          </a:prstGeom>
          <a:solidFill>
            <a:srgbClr val="FF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MongoDB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0" y="18745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D6E5"/>
                </a:solidFill>
                <a:latin typeface="Microsoft YaHei"/>
              </a:defRPr>
            </a:pPr>
            <a:r>
              <a:t>文档型数据库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75320" y="2377440"/>
            <a:ext cx="1188720" cy="365760"/>
          </a:xfrm>
          <a:prstGeom prst="roundRect">
            <a:avLst>
              <a:gd name="adj" fmla="val 5000"/>
            </a:avLst>
          </a:prstGeom>
          <a:solidFill>
            <a:srgbClr val="FF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Docker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0" y="24231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D6E5"/>
                </a:solidFill>
                <a:latin typeface="Microsoft YaHei"/>
              </a:defRPr>
            </a:pPr>
            <a:r>
              <a:t>容器化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75320" y="2926080"/>
            <a:ext cx="1188720" cy="365760"/>
          </a:xfrm>
          <a:prstGeom prst="roundRect">
            <a:avLst>
              <a:gd name="adj" fmla="val 5000"/>
            </a:avLst>
          </a:prstGeom>
          <a:solidFill>
            <a:srgbClr val="FF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Nginx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0" y="297180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D6E5"/>
                </a:solidFill>
                <a:latin typeface="Microsoft YaHei"/>
              </a:defRPr>
            </a:pPr>
            <a:r>
              <a:t>反向代理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75320" y="3474719"/>
            <a:ext cx="1188720" cy="365760"/>
          </a:xfrm>
          <a:prstGeom prst="roundRect">
            <a:avLst>
              <a:gd name="adj" fmla="val 5000"/>
            </a:avLst>
          </a:prstGeom>
          <a:solidFill>
            <a:srgbClr val="FF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SSE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0" y="3520439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D6E5"/>
                </a:solidFill>
                <a:latin typeface="Microsoft YaHei"/>
              </a:defRPr>
            </a:pPr>
            <a:r>
              <a:t>实时推送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75320" y="4023360"/>
            <a:ext cx="1188720" cy="365760"/>
          </a:xfrm>
          <a:prstGeom prst="roundRect">
            <a:avLst>
              <a:gd name="adj" fmla="val 5000"/>
            </a:avLst>
          </a:prstGeom>
          <a:solidFill>
            <a:srgbClr val="FF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OpenAI API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01200" y="406908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D6E5"/>
                </a:solidFill>
                <a:latin typeface="Microsoft YaHei"/>
              </a:defRPr>
            </a:pPr>
            <a:r>
              <a:t>LLM 接入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5212080"/>
            <a:ext cx="10698480" cy="640080"/>
          </a:xfrm>
          <a:prstGeom prst="roundRect">
            <a:avLst>
              <a:gd name="adj" fmla="val 5000"/>
            </a:avLst>
          </a:prstGeom>
          <a:solidFill>
            <a:srgbClr val="1B2E4A"/>
          </a:solidFill>
          <a:ln w="12700">
            <a:solidFill>
              <a:srgbClr val="2A4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05840" y="5303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D6"/>
                </a:solidFill>
                <a:latin typeface="Microsoft YaHei"/>
              </a:defRPr>
            </a:pPr>
            <a:r>
              <a:t>🔌 协议与能力：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108960" y="530352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6E5"/>
                </a:solidFill>
                <a:latin typeface="Microsoft YaHei"/>
              </a:defRPr>
            </a:pPr>
            <a:r>
              <a:t>MCP  ·  Streamable HTTP  ·  SSE  ·  OpenAI Chat Completions API  ·  Function Calling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C8D6E5"/>
                </a:solidFill>
                <a:latin typeface="Microsoft YaHei"/>
              </a:defRPr>
            </a:pPr>
            <a:r>
              <a:t>5/15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45720"/>
          </a:xfrm>
          <a:prstGeom prst="roundRect">
            <a:avLst>
              <a:gd name="adj" fmla="val 5000"/>
            </a:avLst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系统总体架构设计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77240"/>
            <a:ext cx="137160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C8D6E5"/>
                </a:solidFill>
                <a:latin typeface="Microsoft YaHei"/>
              </a:defRPr>
            </a:pPr>
            <a:r>
              <a:t>6/15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097280"/>
            <a:ext cx="10698480" cy="1188720"/>
          </a:xfrm>
          <a:prstGeom prst="roundRect">
            <a:avLst>
              <a:gd name="adj" fmla="val 5000"/>
            </a:avLst>
          </a:prstGeom>
          <a:solidFill>
            <a:srgbClr val="15304A"/>
          </a:solidFill>
          <a:ln w="127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143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D6"/>
                </a:solidFill>
                <a:latin typeface="Microsoft YaHei"/>
              </a:defRPr>
            </a:pPr>
            <a:r>
              <a:t>🖥 前端展示层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463040"/>
            <a:ext cx="2286000" cy="640080"/>
          </a:xfrm>
          <a:prstGeom prst="roundRect">
            <a:avLst>
              <a:gd name="adj" fmla="val 5000"/>
            </a:avLst>
          </a:prstGeom>
          <a:solidFill>
            <a:srgbClr val="1B2E4A"/>
          </a:solidFill>
          <a:ln w="12700">
            <a:solidFill>
              <a:srgbClr val="2A4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149047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React+TS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7373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D6E5"/>
                </a:solidFill>
                <a:latin typeface="Microsoft YaHei"/>
              </a:defRPr>
            </a:pPr>
            <a:r>
              <a:t>可视化编辑器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0" y="1463040"/>
            <a:ext cx="2286000" cy="640080"/>
          </a:xfrm>
          <a:prstGeom prst="roundRect">
            <a:avLst>
              <a:gd name="adj" fmla="val 5000"/>
            </a:avLst>
          </a:prstGeom>
          <a:solidFill>
            <a:srgbClr val="1B2E4A"/>
          </a:solidFill>
          <a:ln w="12700">
            <a:solidFill>
              <a:srgbClr val="2A4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94760" y="149047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XYFlow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17373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D6E5"/>
                </a:solidFill>
                <a:latin typeface="Microsoft YaHei"/>
              </a:defRPr>
            </a:pPr>
            <a:r>
              <a:t>拖拽连线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463040"/>
            <a:ext cx="2286000" cy="640080"/>
          </a:xfrm>
          <a:prstGeom prst="roundRect">
            <a:avLst>
              <a:gd name="adj" fmla="val 5000"/>
            </a:avLst>
          </a:prstGeom>
          <a:solidFill>
            <a:srgbClr val="1B2E4A"/>
          </a:solidFill>
          <a:ln w="12700">
            <a:solidFill>
              <a:srgbClr val="2A4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49047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Ant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17373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D6E5"/>
                </a:solidFill>
                <a:latin typeface="Microsoft YaHei"/>
              </a:defRPr>
            </a:pPr>
            <a:r>
              <a:t>管理后台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78239" y="1463040"/>
            <a:ext cx="2286000" cy="640080"/>
          </a:xfrm>
          <a:prstGeom prst="roundRect">
            <a:avLst>
              <a:gd name="adj" fmla="val 5000"/>
            </a:avLst>
          </a:prstGeom>
          <a:solidFill>
            <a:srgbClr val="1B2E4A"/>
          </a:solidFill>
          <a:ln w="12700">
            <a:solidFill>
              <a:srgbClr val="2A4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15399" y="149047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Axios+SSE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399" y="17373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D6E5"/>
                </a:solidFill>
                <a:latin typeface="Microsoft YaHei"/>
              </a:defRPr>
            </a:pPr>
            <a:r>
              <a:t>流式监控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43600" y="2286000"/>
            <a:ext cx="0" cy="365760"/>
          </a:xfrm>
          <a:prstGeom prst="line">
            <a:avLst/>
          </a:prstGeom>
          <a:ln w="25400">
            <a:solidFill>
              <a:srgbClr val="009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31520" y="2651760"/>
            <a:ext cx="6858000" cy="2011680"/>
          </a:xfrm>
          <a:prstGeom prst="roundRect">
            <a:avLst>
              <a:gd name="adj" fmla="val 5000"/>
            </a:avLst>
          </a:prstGeom>
          <a:solidFill>
            <a:srgbClr val="15304A"/>
          </a:solidFill>
          <a:ln w="12700">
            <a:solidFill>
              <a:srgbClr val="4EC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2697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98F"/>
                </a:solidFill>
                <a:latin typeface="Microsoft YaHei"/>
              </a:defRPr>
            </a:pPr>
            <a:r>
              <a:t>⚙️ 后端核心层 (Go + Gin)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7280" y="3063240"/>
            <a:ext cx="1508760" cy="1371600"/>
          </a:xfrm>
          <a:prstGeom prst="roundRect">
            <a:avLst>
              <a:gd name="adj" fmla="val 5000"/>
            </a:avLst>
          </a:prstGeom>
          <a:solidFill>
            <a:srgbClr val="1B2E4A"/>
          </a:solidFill>
          <a:ln w="12700">
            <a:solidFill>
              <a:srgbClr val="2A4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88720" y="310896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EC98F"/>
                </a:solidFill>
                <a:latin typeface="Microsoft YaHei"/>
              </a:defRPr>
            </a:pPr>
            <a:r>
              <a:t>REST API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3383280"/>
            <a:ext cx="1325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D6E5"/>
                </a:solidFill>
                <a:latin typeface="Microsoft YaHei"/>
              </a:defRPr>
            </a:pPr>
            <a:r>
              <a:t>工作流 CRUD</a:t>
            </a:r>
            <a:br/>
            <a:r>
              <a:t>MCP管理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88920" y="3063240"/>
            <a:ext cx="1508760" cy="1371600"/>
          </a:xfrm>
          <a:prstGeom prst="roundRect">
            <a:avLst>
              <a:gd name="adj" fmla="val 5000"/>
            </a:avLst>
          </a:prstGeom>
          <a:solidFill>
            <a:srgbClr val="1B2E4A"/>
          </a:solidFill>
          <a:ln w="12700">
            <a:solidFill>
              <a:srgbClr val="2A4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80360" y="310896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EC98F"/>
                </a:solidFill>
                <a:latin typeface="Microsoft YaHei"/>
              </a:defRPr>
            </a:pPr>
            <a:r>
              <a:t>DAG引擎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80360" y="3383280"/>
            <a:ext cx="1325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D6E5"/>
                </a:solidFill>
                <a:latin typeface="Microsoft YaHei"/>
              </a:defRPr>
            </a:pPr>
            <a:r>
              <a:t>拓扑排序</a:t>
            </a:r>
            <a:br/>
            <a:r>
              <a:t>条件分支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80560" y="3063240"/>
            <a:ext cx="1508760" cy="1371600"/>
          </a:xfrm>
          <a:prstGeom prst="roundRect">
            <a:avLst>
              <a:gd name="adj" fmla="val 5000"/>
            </a:avLst>
          </a:prstGeom>
          <a:solidFill>
            <a:srgbClr val="1B2E4A"/>
          </a:solidFill>
          <a:ln w="12700">
            <a:solidFill>
              <a:srgbClr val="2A4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0" y="310896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EC98F"/>
                </a:solidFill>
                <a:latin typeface="Microsoft YaHei"/>
              </a:defRPr>
            </a:pPr>
            <a:r>
              <a:t>MCP集成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3383280"/>
            <a:ext cx="1325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D6E5"/>
                </a:solidFill>
                <a:latin typeface="Microsoft YaHei"/>
              </a:defRPr>
            </a:pPr>
            <a:r>
              <a:t>工具发现</a:t>
            </a:r>
            <a:br/>
            <a:r>
              <a:t>FuncCall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2200" y="3063240"/>
            <a:ext cx="1508760" cy="1371600"/>
          </a:xfrm>
          <a:prstGeom prst="roundRect">
            <a:avLst>
              <a:gd name="adj" fmla="val 5000"/>
            </a:avLst>
          </a:prstGeom>
          <a:solidFill>
            <a:srgbClr val="1B2E4A"/>
          </a:solidFill>
          <a:ln w="12700">
            <a:solidFill>
              <a:srgbClr val="2A4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63640" y="310896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EC98F"/>
                </a:solidFill>
                <a:latin typeface="Microsoft YaHei"/>
              </a:defRPr>
            </a:pPr>
            <a:r>
              <a:t>SSE推送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3383280"/>
            <a:ext cx="1325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D6E5"/>
                </a:solidFill>
                <a:latin typeface="Microsoft YaHei"/>
              </a:defRPr>
            </a:pPr>
            <a:r>
              <a:t>流式状态</a:t>
            </a:r>
            <a:br/>
            <a:r>
              <a:t>实时日志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4846320"/>
            <a:ext cx="6858000" cy="822960"/>
          </a:xfrm>
          <a:prstGeom prst="roundRect">
            <a:avLst>
              <a:gd name="adj" fmla="val 5000"/>
            </a:avLst>
          </a:prstGeom>
          <a:solidFill>
            <a:srgbClr val="15304A"/>
          </a:solidFill>
          <a:ln w="12700">
            <a:solidFill>
              <a:srgbClr val="FFA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4892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A050"/>
                </a:solidFill>
                <a:latin typeface="Microsoft YaHei"/>
              </a:defRPr>
            </a:pPr>
            <a:r>
              <a:t>🗄 数据持久层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97280" y="5212080"/>
            <a:ext cx="6217920" cy="365760"/>
          </a:xfrm>
          <a:prstGeom prst="roundRect">
            <a:avLst>
              <a:gd name="adj" fmla="val 5000"/>
            </a:avLst>
          </a:prstGeom>
          <a:solidFill>
            <a:srgbClr val="1B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C8D6E5"/>
                </a:solidFill>
                <a:latin typeface="Microsoft YaHei"/>
              </a:defRPr>
            </a:pPr>
            <a:r>
              <a:t>MongoDB — 工作流 / 执行记录 / MCP Server / LLM Provider 配置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46720" y="2651760"/>
            <a:ext cx="3383280" cy="3017520"/>
          </a:xfrm>
          <a:prstGeom prst="roundRect">
            <a:avLst>
              <a:gd name="adj" fmla="val 5000"/>
            </a:avLst>
          </a:prstGeom>
          <a:solidFill>
            <a:srgbClr val="182A3F"/>
          </a:solidFill>
          <a:ln w="12700">
            <a:solidFill>
              <a:srgbClr val="5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0" y="26974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080FF"/>
                </a:solidFill>
                <a:latin typeface="Microsoft YaHei"/>
              </a:defRPr>
            </a:pPr>
            <a:r>
              <a:t>🔌 外部服务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321040" y="3200400"/>
            <a:ext cx="2926080" cy="914400"/>
          </a:xfrm>
          <a:prstGeom prst="roundRect">
            <a:avLst>
              <a:gd name="adj" fmla="val 5000"/>
            </a:avLst>
          </a:prstGeom>
          <a:solidFill>
            <a:srgbClr val="1B2E4A"/>
          </a:solidFill>
          <a:ln w="12700">
            <a:solidFill>
              <a:srgbClr val="2A4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03920" y="324612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080FF"/>
                </a:solidFill>
                <a:latin typeface="Microsoft YaHei"/>
              </a:defRPr>
            </a:pPr>
            <a:r>
              <a:t>LLM Provider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03920" y="349300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D6E5"/>
                </a:solidFill>
                <a:latin typeface="Microsoft YaHei"/>
              </a:defRPr>
            </a:pPr>
            <a:r>
              <a:t>OpenAI 兼容</a:t>
            </a:r>
            <a:br/>
            <a:r>
              <a:t>Chat Completions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321040" y="4343400"/>
            <a:ext cx="2926080" cy="914400"/>
          </a:xfrm>
          <a:prstGeom prst="roundRect">
            <a:avLst>
              <a:gd name="adj" fmla="val 5000"/>
            </a:avLst>
          </a:prstGeom>
          <a:solidFill>
            <a:srgbClr val="1B2E4A"/>
          </a:solidFill>
          <a:ln w="12700">
            <a:solidFill>
              <a:srgbClr val="2A4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03920" y="438912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080FF"/>
                </a:solidFill>
                <a:latin typeface="Microsoft YaHei"/>
              </a:defRPr>
            </a:pPr>
            <a:r>
              <a:t>MCP Server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03920" y="463600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D6E5"/>
                </a:solidFill>
                <a:latin typeface="Microsoft YaHei"/>
              </a:defRPr>
            </a:pPr>
            <a:r>
              <a:t>工具注册</a:t>
            </a:r>
            <a:br/>
            <a:r>
              <a:t>HTTP / SSE</a:t>
            </a:r>
          </a:p>
        </p:txBody>
      </p:sp>
      <p:cxnSp>
        <p:nvCxnSpPr>
          <p:cNvPr id="46" name="Connector 45"/>
          <p:cNvCxnSpPr/>
          <p:nvPr/>
        </p:nvCxnSpPr>
        <p:spPr>
          <a:xfrm flipH="1">
            <a:off x="7589520" y="3749039"/>
            <a:ext cx="457200" cy="0"/>
          </a:xfrm>
          <a:prstGeom prst="line">
            <a:avLst/>
          </a:prstGeom>
          <a:ln w="12700">
            <a:solidFill>
              <a:srgbClr val="2A4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>
            <a:off x="7589520" y="4846320"/>
            <a:ext cx="457200" cy="0"/>
          </a:xfrm>
          <a:prstGeom prst="line">
            <a:avLst/>
          </a:prstGeom>
          <a:ln w="12700">
            <a:solidFill>
              <a:srgbClr val="2A4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C8D6E5"/>
                </a:solidFill>
                <a:latin typeface="Microsoft YaHei"/>
              </a:defRPr>
            </a:pPr>
            <a:r>
              <a:t>6/15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45720"/>
          </a:xfrm>
          <a:prstGeom prst="roundRect">
            <a:avLst>
              <a:gd name="adj" fmla="val 5000"/>
            </a:avLst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核心设计一：DAG 工作流引擎 —— 工作流模型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77240"/>
            <a:ext cx="137160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C8D6E5"/>
                </a:solidFill>
                <a:latin typeface="Microsoft YaHei"/>
              </a:defRPr>
            </a:pPr>
            <a:r>
              <a:t>7/15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6D6"/>
                </a:solidFill>
                <a:latin typeface="Microsoft YaHei"/>
              </a:defRPr>
            </a:pPr>
            <a:r>
              <a:t>📐 工作流 = DAG (有向无环图)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3291840" cy="2743200"/>
          </a:xfrm>
          <a:prstGeom prst="roundRect">
            <a:avLst>
              <a:gd name="adj" fmla="val 5000"/>
            </a:avLst>
          </a:prstGeom>
          <a:solidFill>
            <a:srgbClr val="1B2E4A"/>
          </a:solidFill>
          <a:ln w="12700">
            <a:solidFill>
              <a:srgbClr val="2A4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3291840" cy="45720"/>
          </a:xfrm>
          <a:prstGeom prst="roundRect">
            <a:avLst>
              <a:gd name="adj" fmla="val 5000"/>
            </a:avLst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74519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D6"/>
                </a:solidFill>
                <a:latin typeface="Microsoft YaHei"/>
              </a:defRPr>
            </a:pPr>
            <a:r>
              <a:t>节点 (Node)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3172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D6E5"/>
                </a:solidFill>
                <a:latin typeface="Microsoft YaHei"/>
              </a:defRPr>
            </a:pPr>
            <a:r>
              <a:t>Start / End / LLM / Agent</a:t>
            </a:r>
            <a:br/>
            <a:r>
              <a:t>Condition / Code / HTTP / Email</a:t>
            </a:r>
            <a:br/>
            <a:r>
              <a:t>每种节点有独立的配置 Schema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91640"/>
            <a:ext cx="3291840" cy="2743200"/>
          </a:xfrm>
          <a:prstGeom prst="roundRect">
            <a:avLst>
              <a:gd name="adj" fmla="val 5000"/>
            </a:avLst>
          </a:prstGeom>
          <a:solidFill>
            <a:srgbClr val="1B2E4A"/>
          </a:solidFill>
          <a:ln w="12700">
            <a:solidFill>
              <a:srgbClr val="2A4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9120" y="1691640"/>
            <a:ext cx="3291840" cy="45720"/>
          </a:xfrm>
          <a:prstGeom prst="roundRect">
            <a:avLst>
              <a:gd name="adj" fmla="val 5000"/>
            </a:avLst>
          </a:prstGeom>
          <a:solidFill>
            <a:srgbClr val="4EC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874519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C98F"/>
                </a:solidFill>
                <a:latin typeface="Microsoft YaHei"/>
              </a:defRPr>
            </a:pPr>
            <a:r>
              <a:t>边 (Edge)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33172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D6E5"/>
                </a:solidFill>
                <a:latin typeface="Microsoft YaHei"/>
              </a:defRPr>
            </a:pPr>
            <a:r>
              <a:t>定义节点间的执行顺序</a:t>
            </a:r>
            <a:br/>
            <a:r>
              <a:t>支持条件分支：true / false 两条路径</a:t>
            </a:r>
            <a:br/>
            <a:r>
              <a:t>基于表达式结果动态路由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691640"/>
            <a:ext cx="3291840" cy="2743200"/>
          </a:xfrm>
          <a:prstGeom prst="roundRect">
            <a:avLst>
              <a:gd name="adj" fmla="val 5000"/>
            </a:avLst>
          </a:prstGeom>
          <a:solidFill>
            <a:srgbClr val="1B2E4A"/>
          </a:solidFill>
          <a:ln w="12700">
            <a:solidFill>
              <a:srgbClr val="2A4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46720" y="1691640"/>
            <a:ext cx="3291840" cy="45720"/>
          </a:xfrm>
          <a:prstGeom prst="roundRect">
            <a:avLst>
              <a:gd name="adj" fmla="val 5000"/>
            </a:avLst>
          </a:prstGeom>
          <a:solidFill>
            <a:srgbClr val="FF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874519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A050"/>
                </a:solidFill>
                <a:latin typeface="Microsoft YaHei"/>
              </a:defRPr>
            </a:pPr>
            <a:r>
              <a:t>执行上下文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33172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D6E5"/>
                </a:solidFill>
                <a:latin typeface="Microsoft YaHei"/>
              </a:defRPr>
            </a:pPr>
            <a:r>
              <a:t>Key-Value 存储结构</a:t>
            </a:r>
            <a:br/>
            <a:r>
              <a:t>保存每个节点的输出结果</a:t>
            </a:r>
            <a:br/>
            <a:r>
              <a:t>后续节点通过 {{node_id.output}} 引用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754880"/>
            <a:ext cx="10698480" cy="1828800"/>
          </a:xfrm>
          <a:prstGeom prst="roundRect">
            <a:avLst>
              <a:gd name="adj" fmla="val 5000"/>
            </a:avLst>
          </a:prstGeom>
          <a:solidFill>
            <a:srgbClr val="1B2E4A"/>
          </a:solidFill>
          <a:ln w="12700">
            <a:solidFill>
              <a:srgbClr val="2A4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8463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D6"/>
                </a:solidFill>
                <a:latin typeface="Microsoft YaHei"/>
              </a:defRPr>
            </a:pPr>
            <a:r>
              <a:t>🔗 模板变量机制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257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D6E5"/>
                </a:solidFill>
                <a:latin typeface="Microsoft YaHei"/>
              </a:defRPr>
            </a:pPr>
            <a:r>
              <a:t>示例：LLM 节点的 System Prompt 可写为：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5321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8CAE4"/>
                </a:solidFill>
                <a:latin typeface="Microsoft YaHei"/>
              </a:defRPr>
            </a:pPr>
            <a:r>
              <a:t>"根据用户输入 {{start_node.user_input}}，参考搜索引擎结果 {{search_agent.result}}，生成最终回答"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897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D6E5"/>
                </a:solidFill>
                <a:latin typeface="Microsoft YaHei"/>
              </a:defRPr>
            </a:pPr>
            <a:r>
              <a:t>→ 执行引擎会在运行时将 {{node_id.output}} 替换为对应节点的实际输出值，实现节点间数据流动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C8D6E5"/>
                </a:solidFill>
                <a:latin typeface="Microsoft YaHei"/>
              </a:defRPr>
            </a:pPr>
            <a:r>
              <a:t>7/15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45720"/>
          </a:xfrm>
          <a:prstGeom prst="roundRect">
            <a:avLst>
              <a:gd name="adj" fmla="val 5000"/>
            </a:avLst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核心设计一：DAG 工作流引擎 —— 执行流程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77240"/>
            <a:ext cx="137160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C8D6E5"/>
                </a:solidFill>
                <a:latin typeface="Microsoft YaHei"/>
              </a:defRPr>
            </a:pPr>
            <a:r>
              <a:t>8/15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3291840" cy="1920240"/>
          </a:xfrm>
          <a:prstGeom prst="roundRect">
            <a:avLst>
              <a:gd name="adj" fmla="val 5000"/>
            </a:avLst>
          </a:prstGeom>
          <a:solidFill>
            <a:srgbClr val="1B2E4A"/>
          </a:solidFill>
          <a:ln w="12700">
            <a:solidFill>
              <a:srgbClr val="4EC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97280" y="1325880"/>
            <a:ext cx="2560320" cy="457200"/>
          </a:xfrm>
          <a:prstGeom prst="roundRect">
            <a:avLst>
              <a:gd name="adj" fmla="val 5000"/>
            </a:avLst>
          </a:prstGeom>
          <a:solidFill>
            <a:srgbClr val="4EC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1. 拓扑排序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965960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8D6E5"/>
                </a:solidFill>
                <a:latin typeface="Microsoft YaHei"/>
              </a:defRPr>
            </a:pPr>
            <a:r>
              <a:t>解析 DAG 图</a:t>
            </a:r>
            <a:br/>
            <a:r>
              <a:t>确定执行顺序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188720"/>
            <a:ext cx="3291840" cy="1920240"/>
          </a:xfrm>
          <a:prstGeom prst="roundRect">
            <a:avLst>
              <a:gd name="adj" fmla="val 5000"/>
            </a:avLst>
          </a:prstGeom>
          <a:solidFill>
            <a:srgbClr val="1B2E4A"/>
          </a:solidFill>
          <a:ln w="127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754880" y="1325880"/>
            <a:ext cx="2560320" cy="457200"/>
          </a:xfrm>
          <a:prstGeom prst="roundRect">
            <a:avLst>
              <a:gd name="adj" fmla="val 5000"/>
            </a:avLst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2. 初始化上下文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1965960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8D6E5"/>
                </a:solidFill>
                <a:latin typeface="Microsoft YaHei"/>
              </a:defRPr>
            </a:pPr>
            <a:r>
              <a:t>创建 KV 存储</a:t>
            </a:r>
            <a:br/>
            <a:r>
              <a:t>注入用户输入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188720"/>
            <a:ext cx="3291840" cy="1920240"/>
          </a:xfrm>
          <a:prstGeom prst="roundRect">
            <a:avLst>
              <a:gd name="adj" fmla="val 5000"/>
            </a:avLst>
          </a:prstGeom>
          <a:solidFill>
            <a:srgbClr val="1B2E4A"/>
          </a:solidFill>
          <a:ln w="12700">
            <a:solidFill>
              <a:srgbClr val="FFA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80" y="1325880"/>
            <a:ext cx="2560320" cy="457200"/>
          </a:xfrm>
          <a:prstGeom prst="roundRect">
            <a:avLst>
              <a:gd name="adj" fmla="val 5000"/>
            </a:avLst>
          </a:prstGeom>
          <a:solidFill>
            <a:srgbClr val="FF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3. 按序执行节点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1965960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8D6E5"/>
                </a:solidFill>
                <a:latin typeface="Microsoft YaHei"/>
              </a:defRPr>
            </a:pPr>
            <a:r>
              <a:t>根据节点类型</a:t>
            </a:r>
            <a:br/>
            <a:r>
              <a:t>调用对应 Handler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474720"/>
            <a:ext cx="3291840" cy="1920240"/>
          </a:xfrm>
          <a:prstGeom prst="roundRect">
            <a:avLst>
              <a:gd name="adj" fmla="val 5000"/>
            </a:avLst>
          </a:prstGeom>
          <a:solidFill>
            <a:srgbClr val="1B2E4A"/>
          </a:solidFill>
          <a:ln w="12700">
            <a:solidFill>
              <a:srgbClr val="A0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97280" y="3611880"/>
            <a:ext cx="2560320" cy="457200"/>
          </a:xfrm>
          <a:prstGeom prst="roundRect">
            <a:avLst>
              <a:gd name="adj" fmla="val 5000"/>
            </a:avLst>
          </a:prstGeom>
          <a:solidFill>
            <a:srgbClr val="A0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4. 条件分支判断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251960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8D6E5"/>
                </a:solidFill>
                <a:latin typeface="Microsoft YaHei"/>
              </a:defRPr>
            </a:pPr>
            <a:r>
              <a:t>评估表达式结果</a:t>
            </a:r>
            <a:br/>
            <a:r>
              <a:t>选择下游路径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3474720"/>
            <a:ext cx="3291840" cy="1920240"/>
          </a:xfrm>
          <a:prstGeom prst="roundRect">
            <a:avLst>
              <a:gd name="adj" fmla="val 5000"/>
            </a:avLst>
          </a:prstGeom>
          <a:solidFill>
            <a:srgbClr val="1B2E4A"/>
          </a:solidFill>
          <a:ln w="1270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754880" y="3611880"/>
            <a:ext cx="2560320" cy="457200"/>
          </a:xfrm>
          <a:prstGeom prst="roundRect">
            <a:avLst>
              <a:gd name="adj" fmla="val 5000"/>
            </a:avLst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5. 保存节点输出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4251960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8D6E5"/>
                </a:solidFill>
                <a:latin typeface="Microsoft YaHei"/>
              </a:defRPr>
            </a:pPr>
            <a:r>
              <a:t>存入执行上下文</a:t>
            </a:r>
            <a:br/>
            <a:r>
              <a:t>供后续节点引用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3474720"/>
            <a:ext cx="3291840" cy="1920240"/>
          </a:xfrm>
          <a:prstGeom prst="roundRect">
            <a:avLst>
              <a:gd name="adj" fmla="val 5000"/>
            </a:avLst>
          </a:prstGeom>
          <a:solidFill>
            <a:srgbClr val="1B2E4A"/>
          </a:solidFill>
          <a:ln w="12700">
            <a:solidFill>
              <a:srgbClr val="F08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412480" y="3611880"/>
            <a:ext cx="2560320" cy="457200"/>
          </a:xfrm>
          <a:prstGeom prst="roundRect">
            <a:avLst>
              <a:gd name="adj" fmla="val 5000"/>
            </a:avLst>
          </a:prstGeom>
          <a:solidFill>
            <a:srgbClr val="F08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6. 记录日志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4251960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8D6E5"/>
                </a:solidFill>
                <a:latin typeface="Microsoft YaHei"/>
              </a:defRPr>
            </a:pPr>
            <a:r>
              <a:t>状态、耗时、输出</a:t>
            </a:r>
            <a:br/>
            <a:r>
              <a:t>SSE 实时推送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C8D6E5"/>
                </a:solidFill>
                <a:latin typeface="Microsoft YaHei"/>
              </a:defRPr>
            </a:pPr>
            <a:r>
              <a:t>8/15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45720"/>
          </a:xfrm>
          <a:prstGeom prst="roundRect">
            <a:avLst>
              <a:gd name="adj" fmla="val 5000"/>
            </a:avLst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核心设计二：Agent 与 MCP 工具调用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77240"/>
            <a:ext cx="137160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C8D6E5"/>
                </a:solidFill>
                <a:latin typeface="Microsoft YaHei"/>
              </a:defRPr>
            </a:pPr>
            <a:r>
              <a:t>9/15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D6"/>
                </a:solidFill>
                <a:latin typeface="Microsoft YaHei"/>
              </a:defRPr>
            </a:pPr>
            <a:r>
              <a:t>🤖 Agent 节点执行流程</a:t>
            </a:r>
          </a:p>
        </p:txBody>
      </p:sp>
      <p:sp>
        <p:nvSpPr>
          <p:cNvPr id="7" name="Oval 6"/>
          <p:cNvSpPr/>
          <p:nvPr/>
        </p:nvSpPr>
        <p:spPr>
          <a:xfrm>
            <a:off x="1148943" y="1298448"/>
            <a:ext cx="256032" cy="256032"/>
          </a:xfrm>
          <a:prstGeom prst="ellipse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6375" y="1316736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1743" y="1645920"/>
            <a:ext cx="1371600" cy="1005840"/>
          </a:xfrm>
          <a:prstGeom prst="roundRect">
            <a:avLst>
              <a:gd name="adj" fmla="val 5000"/>
            </a:avLst>
          </a:prstGeom>
          <a:solidFill>
            <a:srgbClr val="1B2E4A"/>
          </a:solidFill>
          <a:ln w="127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6607" y="1783080"/>
            <a:ext cx="12618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连接 MCP</a:t>
            </a:r>
            <a:br/>
            <a:r>
              <a:t>Server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081631" y="2011680"/>
            <a:ext cx="164592" cy="228600"/>
          </a:xfrm>
          <a:prstGeom prst="rightArrow">
            <a:avLst/>
          </a:prstGeom>
          <a:solidFill>
            <a:srgbClr val="2A4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721711" y="1298448"/>
            <a:ext cx="256032" cy="256032"/>
          </a:xfrm>
          <a:prstGeom prst="ellipse">
            <a:avLst/>
          </a:prstGeom>
          <a:solidFill>
            <a:srgbClr val="4EC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9143" y="1316736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64511" y="1645920"/>
            <a:ext cx="1371600" cy="1005840"/>
          </a:xfrm>
          <a:prstGeom prst="roundRect">
            <a:avLst>
              <a:gd name="adj" fmla="val 5000"/>
            </a:avLst>
          </a:prstGeom>
          <a:solidFill>
            <a:srgbClr val="1B2E4A"/>
          </a:solidFill>
          <a:ln w="12700">
            <a:solidFill>
              <a:srgbClr val="4EC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19375" y="1783080"/>
            <a:ext cx="12618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发现工具</a:t>
            </a:r>
            <a:br/>
            <a:r>
              <a:t>ListTools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654399" y="2011680"/>
            <a:ext cx="164592" cy="228600"/>
          </a:xfrm>
          <a:prstGeom prst="rightArrow">
            <a:avLst/>
          </a:prstGeom>
          <a:solidFill>
            <a:srgbClr val="2A4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294479" y="1298448"/>
            <a:ext cx="256032" cy="256032"/>
          </a:xfrm>
          <a:prstGeom prst="ellipse">
            <a:avLst/>
          </a:prstGeom>
          <a:solidFill>
            <a:srgbClr val="508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21911" y="1316736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37279" y="1645920"/>
            <a:ext cx="1371600" cy="1005840"/>
          </a:xfrm>
          <a:prstGeom prst="roundRect">
            <a:avLst>
              <a:gd name="adj" fmla="val 5000"/>
            </a:avLst>
          </a:prstGeom>
          <a:solidFill>
            <a:srgbClr val="1B2E4A"/>
          </a:solidFill>
          <a:ln w="12700">
            <a:solidFill>
              <a:srgbClr val="508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92143" y="1783080"/>
            <a:ext cx="12618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Function</a:t>
            </a:r>
            <a:br/>
            <a:r>
              <a:t>Calling 转换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5227167" y="2011680"/>
            <a:ext cx="164592" cy="228600"/>
          </a:xfrm>
          <a:prstGeom prst="rightArrow">
            <a:avLst/>
          </a:prstGeom>
          <a:solidFill>
            <a:srgbClr val="2A4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867247" y="1298448"/>
            <a:ext cx="256032" cy="256032"/>
          </a:xfrm>
          <a:prstGeom prst="ellipse">
            <a:avLst/>
          </a:prstGeom>
          <a:solidFill>
            <a:srgbClr val="FF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94679" y="1316736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10047" y="1645920"/>
            <a:ext cx="1371600" cy="1005840"/>
          </a:xfrm>
          <a:prstGeom prst="roundRect">
            <a:avLst>
              <a:gd name="adj" fmla="val 5000"/>
            </a:avLst>
          </a:prstGeom>
          <a:solidFill>
            <a:srgbClr val="1B2E4A"/>
          </a:solidFill>
          <a:ln w="12700">
            <a:solidFill>
              <a:srgbClr val="FFA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64911" y="1783080"/>
            <a:ext cx="12618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LLM 决策</a:t>
            </a:r>
            <a:br/>
            <a:r>
              <a:t>工具调用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6799935" y="2011680"/>
            <a:ext cx="164592" cy="228600"/>
          </a:xfrm>
          <a:prstGeom prst="rightArrow">
            <a:avLst/>
          </a:prstGeom>
          <a:solidFill>
            <a:srgbClr val="2A4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440015" y="1298448"/>
            <a:ext cx="256032" cy="256032"/>
          </a:xfrm>
          <a:prstGeom prst="ellipse">
            <a:avLst/>
          </a:prstGeom>
          <a:solidFill>
            <a:srgbClr val="A0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67447" y="1316736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982815" y="1645920"/>
            <a:ext cx="1371600" cy="1005840"/>
          </a:xfrm>
          <a:prstGeom prst="roundRect">
            <a:avLst>
              <a:gd name="adj" fmla="val 5000"/>
            </a:avLst>
          </a:prstGeom>
          <a:solidFill>
            <a:srgbClr val="1B2E4A"/>
          </a:solidFill>
          <a:ln w="12700">
            <a:solidFill>
              <a:srgbClr val="A0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37679" y="1783080"/>
            <a:ext cx="12618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执行 MCP</a:t>
            </a:r>
            <a:br/>
            <a:r>
              <a:t>callTool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8372703" y="2011680"/>
            <a:ext cx="164592" cy="228600"/>
          </a:xfrm>
          <a:prstGeom prst="rightArrow">
            <a:avLst/>
          </a:prstGeom>
          <a:solidFill>
            <a:srgbClr val="2A4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012783" y="1298448"/>
            <a:ext cx="256032" cy="256032"/>
          </a:xfrm>
          <a:prstGeom prst="ellipse">
            <a:avLst/>
          </a:prstGeom>
          <a:solidFill>
            <a:srgbClr val="F08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40215" y="1316736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555583" y="1645920"/>
            <a:ext cx="1371600" cy="1005840"/>
          </a:xfrm>
          <a:prstGeom prst="roundRect">
            <a:avLst>
              <a:gd name="adj" fmla="val 5000"/>
            </a:avLst>
          </a:prstGeom>
          <a:solidFill>
            <a:srgbClr val="1B2E4A"/>
          </a:solidFill>
          <a:ln w="12700">
            <a:solidFill>
              <a:srgbClr val="F08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10447" y="1783080"/>
            <a:ext cx="12618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返回结果</a:t>
            </a:r>
            <a:br/>
            <a:r>
              <a:t>给 LLM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9945471" y="2011680"/>
            <a:ext cx="164592" cy="228600"/>
          </a:xfrm>
          <a:prstGeom prst="rightArrow">
            <a:avLst/>
          </a:prstGeom>
          <a:solidFill>
            <a:srgbClr val="2A4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585551" y="1298448"/>
            <a:ext cx="256032" cy="256032"/>
          </a:xfrm>
          <a:prstGeom prst="ellipse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612983" y="1316736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128351" y="1645920"/>
            <a:ext cx="1371600" cy="1005840"/>
          </a:xfrm>
          <a:prstGeom prst="roundRect">
            <a:avLst>
              <a:gd name="adj" fmla="val 5000"/>
            </a:avLst>
          </a:prstGeom>
          <a:solidFill>
            <a:srgbClr val="1B2E4A"/>
          </a:solidFill>
          <a:ln w="127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83215" y="1783080"/>
            <a:ext cx="12618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生成最终</a:t>
            </a:r>
            <a:br/>
            <a:r>
              <a:t>回答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3017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D6"/>
                </a:solidFill>
                <a:latin typeface="Microsoft YaHei"/>
              </a:defRPr>
            </a:pPr>
            <a:r>
              <a:t>⚡ 工具调用循环 (Tool-Use Loop)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429000"/>
            <a:ext cx="5303520" cy="1371600"/>
          </a:xfrm>
          <a:prstGeom prst="roundRect">
            <a:avLst>
              <a:gd name="adj" fmla="val 5000"/>
            </a:avLst>
          </a:prstGeom>
          <a:solidFill>
            <a:srgbClr val="1B2E4A"/>
          </a:solidFill>
          <a:ln w="12700">
            <a:solidFill>
              <a:srgbClr val="2A4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05840" y="352044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D6E5"/>
                </a:solidFill>
                <a:latin typeface="Microsoft YaHei"/>
              </a:defRPr>
            </a:pPr>
            <a:r>
              <a:t>1. LLM 分析任务 → 决定调用工具及参数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840" y="379476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D6E5"/>
                </a:solidFill>
                <a:latin typeface="Microsoft YaHei"/>
              </a:defRPr>
            </a:pPr>
            <a:r>
              <a:t>2. 系统执行 callTool → 获得工具返回结果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5840" y="406908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D6E5"/>
                </a:solidFill>
                <a:latin typeface="Microsoft YaHei"/>
              </a:defRPr>
            </a:pPr>
            <a:r>
              <a:t>3. 结果返回 LLM → 判断继续/结束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5840" y="4343399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D6E5"/>
                </a:solidFill>
                <a:latin typeface="Microsoft YaHei"/>
              </a:defRPr>
            </a:pPr>
            <a:r>
              <a:t>4. 循环直到 LLM 生成最终回答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0" y="3017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D6"/>
                </a:solidFill>
                <a:latin typeface="Microsoft YaHei"/>
              </a:defRPr>
            </a:pPr>
            <a:r>
              <a:t>🔌 MCP 协议兼容性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583680" y="3429000"/>
            <a:ext cx="4846320" cy="1371600"/>
          </a:xfrm>
          <a:prstGeom prst="roundRect">
            <a:avLst>
              <a:gd name="adj" fmla="val 5000"/>
            </a:avLst>
          </a:prstGeom>
          <a:solidFill>
            <a:srgbClr val="1B2E4A"/>
          </a:solidFill>
          <a:ln w="12700">
            <a:solidFill>
              <a:srgbClr val="2A4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66560" y="352044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EC98F"/>
                </a:solidFill>
                <a:latin typeface="Microsoft YaHei"/>
              </a:defRPr>
            </a:pPr>
            <a:r>
              <a:t>✅ Streamable HTTP（MCP 推荐）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66560" y="379476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EC98F"/>
                </a:solidFill>
                <a:latin typeface="Microsoft YaHei"/>
              </a:defRPr>
            </a:pPr>
            <a:r>
              <a:t>✅ SSE 自动降级（兼容旧版）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766560" y="406908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EC98F"/>
                </a:solidFill>
                <a:latin typeface="Microsoft YaHei"/>
              </a:defRPr>
            </a:pPr>
            <a:r>
              <a:t>✅ 启动时连接检测 + 工具发现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66560" y="4343399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EC98F"/>
                </a:solidFill>
                <a:latin typeface="Microsoft YaHei"/>
              </a:defRPr>
            </a:pPr>
            <a:r>
              <a:t>✅ OpenAI Chat Completions API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1520" y="50749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D6"/>
                </a:solidFill>
                <a:latin typeface="Microsoft YaHei"/>
              </a:defRPr>
            </a:pPr>
            <a:r>
              <a:t>📊 Agent 执行监控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31520" y="5486400"/>
            <a:ext cx="10698480" cy="640080"/>
          </a:xfrm>
          <a:prstGeom prst="roundRect">
            <a:avLst>
              <a:gd name="adj" fmla="val 5000"/>
            </a:avLst>
          </a:prstGeom>
          <a:solidFill>
            <a:srgbClr val="1B2E4A"/>
          </a:solidFill>
          <a:ln w="12700">
            <a:solidFill>
              <a:srgbClr val="2A4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97280" y="55778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D6E5"/>
                </a:solidFill>
                <a:latin typeface="Microsoft YaHei"/>
              </a:defRPr>
            </a:pPr>
            <a:r>
              <a:t>▸ 记录每步工具调用详情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200400" y="55778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D6E5"/>
                </a:solidFill>
                <a:latin typeface="Microsoft YaHei"/>
              </a:defRPr>
            </a:pPr>
            <a:r>
              <a:t>▸ 展示工具名称与参数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303520" y="55778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D6E5"/>
                </a:solidFill>
                <a:latin typeface="Microsoft YaHei"/>
              </a:defRPr>
            </a:pPr>
            <a:r>
              <a:t>▸ 记录工具返回结果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406639" y="55778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D6E5"/>
                </a:solidFill>
                <a:latin typeface="Microsoft YaHei"/>
              </a:defRPr>
            </a:pPr>
            <a:r>
              <a:t>▸ 统计执行耗时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509760" y="55778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D6E5"/>
                </a:solidFill>
                <a:latin typeface="Microsoft YaHei"/>
              </a:defRPr>
            </a:pPr>
            <a:r>
              <a:t>▸ SSE 实时推送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C8D6E5"/>
                </a:solidFill>
                <a:latin typeface="Microsoft YaHei"/>
              </a:defRPr>
            </a:pPr>
            <a:r>
              <a:t>9/15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45720"/>
          </a:xfrm>
          <a:prstGeom prst="roundRect">
            <a:avLst>
              <a:gd name="adj" fmla="val 5000"/>
            </a:avLst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MCP 协议集成细节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77240"/>
            <a:ext cx="137160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C8D6E5"/>
                </a:solidFill>
                <a:latin typeface="Microsoft YaHei"/>
              </a:defRPr>
            </a:pPr>
            <a:r>
              <a:t>10/15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097280"/>
            <a:ext cx="5303520" cy="2743200"/>
          </a:xfrm>
          <a:prstGeom prst="roundRect">
            <a:avLst>
              <a:gd name="adj" fmla="val 5000"/>
            </a:avLst>
          </a:prstGeom>
          <a:solidFill>
            <a:srgbClr val="1B2E4A"/>
          </a:solidFill>
          <a:ln w="12700">
            <a:solidFill>
              <a:srgbClr val="2A4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188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D6"/>
                </a:solidFill>
                <a:latin typeface="Microsoft YaHei"/>
              </a:defRPr>
            </a:pPr>
            <a:r>
              <a:t>🔧 MCP Server 管理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6459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D6E5"/>
                </a:solidFill>
                <a:latin typeface="Microsoft YaHei"/>
              </a:defRPr>
            </a:pPr>
            <a:r>
              <a:t>▸ 注册：填写 Server 名称、URL、传输方式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D6E5"/>
                </a:solidFill>
                <a:latin typeface="Microsoft YaHei"/>
              </a:defRPr>
            </a:pPr>
            <a:r>
              <a:t>▸ 连接检测：启动时自动 ping 测试连通性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D6E5"/>
                </a:solidFill>
                <a:latin typeface="Microsoft YaHei"/>
              </a:defRPr>
            </a:pPr>
            <a:r>
              <a:t>▸ 工具发现：调用 tools/list 获取工具列表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743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D6E5"/>
                </a:solidFill>
                <a:latin typeface="Microsoft YaHei"/>
              </a:defRPr>
            </a:pPr>
            <a:r>
              <a:t>▸ 工具调用：通过 tools/call 执行具体工具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1089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D6E5"/>
                </a:solidFill>
                <a:latin typeface="Microsoft YaHei"/>
              </a:defRPr>
            </a:pPr>
            <a:r>
              <a:t>▸ 支持 Streamable HTTP 与 SSE 双传输模式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1097280"/>
            <a:ext cx="4846320" cy="2743200"/>
          </a:xfrm>
          <a:prstGeom prst="roundRect">
            <a:avLst>
              <a:gd name="adj" fmla="val 5000"/>
            </a:avLst>
          </a:prstGeom>
          <a:solidFill>
            <a:srgbClr val="1B2E4A"/>
          </a:solidFill>
          <a:ln w="12700">
            <a:solidFill>
              <a:srgbClr val="2A4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0" y="1188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D6"/>
                </a:solidFill>
                <a:latin typeface="Microsoft YaHei"/>
              </a:defRPr>
            </a:pPr>
            <a:r>
              <a:t>🔄 Agent 调用 MCP 流程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16459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D6E5"/>
                </a:solidFill>
                <a:latin typeface="Microsoft YaHei"/>
              </a:defRPr>
            </a:pPr>
            <a:r>
              <a:t>1. Agent 节点启动，获取关联的 MCP Server 列表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01168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D6E5"/>
                </a:solidFill>
                <a:latin typeface="Microsoft YaHei"/>
              </a:defRPr>
            </a:pPr>
            <a:r>
              <a:t>2. 并行调用各 Server 的 tools/list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237744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D6E5"/>
                </a:solidFill>
                <a:latin typeface="Microsoft YaHei"/>
              </a:defRPr>
            </a:pPr>
            <a:r>
              <a:t>3. 合并工具列表，转换为 OpenAI Tool 格式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74320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D6E5"/>
                </a:solidFill>
                <a:latin typeface="Microsoft YaHei"/>
              </a:defRPr>
            </a:pPr>
            <a:r>
              <a:t>4. 发送给 LLM，LLM 返回 tool_calls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310896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D6E5"/>
                </a:solidFill>
                <a:latin typeface="Microsoft YaHei"/>
              </a:defRPr>
            </a:pPr>
            <a:r>
              <a:t>5. 执行 tool_calls，结果回传 LLM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34747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D6E5"/>
                </a:solidFill>
                <a:latin typeface="Microsoft YaHei"/>
              </a:defRPr>
            </a:pPr>
            <a:r>
              <a:t>6. 循环直到 LLM 返回最终文本回答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114800"/>
            <a:ext cx="10698480" cy="2286000"/>
          </a:xfrm>
          <a:prstGeom prst="roundRect">
            <a:avLst>
              <a:gd name="adj" fmla="val 5000"/>
            </a:avLst>
          </a:prstGeom>
          <a:solidFill>
            <a:srgbClr val="1B2E4A"/>
          </a:solidFill>
          <a:ln w="12700">
            <a:solidFill>
              <a:srgbClr val="2A4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206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D6"/>
                </a:solidFill>
                <a:latin typeface="Microsoft YaHei"/>
              </a:defRPr>
            </a:pPr>
            <a:r>
              <a:t>📡 传输模式对比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7280" y="4663440"/>
            <a:ext cx="4572000" cy="1463040"/>
          </a:xfrm>
          <a:prstGeom prst="roundRect">
            <a:avLst>
              <a:gd name="adj" fmla="val 5000"/>
            </a:avLst>
          </a:prstGeom>
          <a:solidFill>
            <a:srgbClr val="203555"/>
          </a:solidFill>
          <a:ln w="127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80160" y="47548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D6"/>
                </a:solidFill>
                <a:latin typeface="Microsoft YaHei"/>
              </a:defRPr>
            </a:pPr>
            <a:r>
              <a:t>Streamable HTTP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50292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D6E5"/>
                </a:solidFill>
                <a:latin typeface="Microsoft YaHei"/>
              </a:defRPr>
            </a:pPr>
            <a:r>
              <a:t>MCP 协议推荐方式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5349240"/>
            <a:ext cx="4114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D6E5"/>
                </a:solidFill>
                <a:latin typeface="Microsoft YaHei"/>
              </a:defRPr>
            </a:pPr>
            <a:r>
              <a:t>✅ 双向流式通信</a:t>
            </a:r>
            <a:br/>
            <a:r>
              <a:t>✅ 连接复用</a:t>
            </a:r>
            <a:br/>
            <a:r>
              <a:t>✅ 性能更优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4663440"/>
            <a:ext cx="4572000" cy="1463040"/>
          </a:xfrm>
          <a:prstGeom prst="roundRect">
            <a:avLst>
              <a:gd name="adj" fmla="val 5000"/>
            </a:avLst>
          </a:prstGeom>
          <a:solidFill>
            <a:srgbClr val="203555"/>
          </a:solidFill>
          <a:ln w="12700">
            <a:solidFill>
              <a:srgbClr val="4EC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47548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98F"/>
                </a:solidFill>
                <a:latin typeface="Microsoft YaHei"/>
              </a:defRPr>
            </a:pPr>
            <a:r>
              <a:t>SSE (Server-Sent Events)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50292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D6E5"/>
                </a:solidFill>
                <a:latin typeface="Microsoft YaHei"/>
              </a:defRPr>
            </a:pPr>
            <a:r>
              <a:t>兼容旧版 Server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5349240"/>
            <a:ext cx="4114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D6E5"/>
                </a:solidFill>
                <a:latin typeface="Microsoft YaHei"/>
              </a:defRPr>
            </a:pPr>
            <a:r>
              <a:t>✅ 单向流式推送</a:t>
            </a:r>
            <a:br/>
            <a:r>
              <a:t>⚠️ 需额外 HTTP 请求</a:t>
            </a:r>
            <a:br/>
            <a:r>
              <a:t>✅ 兼容性好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C8D6E5"/>
                </a:solidFill>
                <a:latin typeface="Microsoft YaHei"/>
              </a:defRPr>
            </a:pPr>
            <a:r>
              <a:t>10/15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45720"/>
          </a:xfrm>
          <a:prstGeom prst="roundRect">
            <a:avLst>
              <a:gd name="adj" fmla="val 5000"/>
            </a:avLst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系统功能模块展示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77240"/>
            <a:ext cx="137160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C8D6E5"/>
                </a:solidFill>
                <a:latin typeface="Microsoft YaHei"/>
              </a:defRPr>
            </a:pPr>
            <a:r>
              <a:t>11/15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097280"/>
            <a:ext cx="2514600" cy="2240280"/>
          </a:xfrm>
          <a:prstGeom prst="roundRect">
            <a:avLst>
              <a:gd name="adj" fmla="val 5000"/>
            </a:avLst>
          </a:prstGeom>
          <a:solidFill>
            <a:srgbClr val="1B2E4A"/>
          </a:solidFill>
          <a:ln w="12700">
            <a:solidFill>
              <a:srgbClr val="2A4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097280"/>
            <a:ext cx="2514600" cy="36576"/>
          </a:xfrm>
          <a:prstGeom prst="roundRect">
            <a:avLst>
              <a:gd name="adj" fmla="val 5000"/>
            </a:avLst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280160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📋 工作流管理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737360"/>
            <a:ext cx="2148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D6E5"/>
                </a:solidFill>
                <a:latin typeface="Microsoft YaHei"/>
              </a:defRPr>
            </a:pPr>
            <a:r>
              <a:t>创建、编辑、删除</a:t>
            </a:r>
            <a:br/>
            <a:r>
              <a:t>列表展示与搜索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097280"/>
            <a:ext cx="2514600" cy="2240280"/>
          </a:xfrm>
          <a:prstGeom prst="roundRect">
            <a:avLst>
              <a:gd name="adj" fmla="val 5000"/>
            </a:avLst>
          </a:prstGeom>
          <a:solidFill>
            <a:srgbClr val="1B2E4A"/>
          </a:solidFill>
          <a:ln w="12700">
            <a:solidFill>
              <a:srgbClr val="2A4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74720" y="1097280"/>
            <a:ext cx="2514600" cy="36576"/>
          </a:xfrm>
          <a:prstGeom prst="roundRect">
            <a:avLst>
              <a:gd name="adj" fmla="val 5000"/>
            </a:avLst>
          </a:prstGeom>
          <a:solidFill>
            <a:srgbClr val="4EC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1280160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🎨 可视化编辑器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1737360"/>
            <a:ext cx="2148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D6E5"/>
                </a:solidFill>
                <a:latin typeface="Microsoft YaHei"/>
              </a:defRPr>
            </a:pPr>
            <a:r>
              <a:t>节点拖拽 + 连线</a:t>
            </a:r>
            <a:br/>
            <a:r>
              <a:t>所见即所得编排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097280"/>
            <a:ext cx="2514600" cy="2240280"/>
          </a:xfrm>
          <a:prstGeom prst="roundRect">
            <a:avLst>
              <a:gd name="adj" fmla="val 5000"/>
            </a:avLst>
          </a:prstGeom>
          <a:solidFill>
            <a:srgbClr val="1B2E4A"/>
          </a:solidFill>
          <a:ln w="12700">
            <a:solidFill>
              <a:srgbClr val="2A4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17920" y="1097280"/>
            <a:ext cx="2514600" cy="36576"/>
          </a:xfrm>
          <a:prstGeom prst="roundRect">
            <a:avLst>
              <a:gd name="adj" fmla="val 5000"/>
            </a:avLst>
          </a:prstGeom>
          <a:solidFill>
            <a:srgbClr val="FF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280160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⚙️ 节点配置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737360"/>
            <a:ext cx="2148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D6E5"/>
                </a:solidFill>
                <a:latin typeface="Microsoft YaHei"/>
              </a:defRPr>
            </a:pPr>
            <a:r>
              <a:t>8 种节点类型</a:t>
            </a:r>
            <a:br/>
            <a:r>
              <a:t>独立配置面板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0" y="1097280"/>
            <a:ext cx="2514600" cy="2240280"/>
          </a:xfrm>
          <a:prstGeom prst="roundRect">
            <a:avLst>
              <a:gd name="adj" fmla="val 5000"/>
            </a:avLst>
          </a:prstGeom>
          <a:solidFill>
            <a:srgbClr val="1B2E4A"/>
          </a:solidFill>
          <a:ln w="12700">
            <a:solidFill>
              <a:srgbClr val="2A4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961120" y="1097280"/>
            <a:ext cx="2514600" cy="36576"/>
          </a:xfrm>
          <a:prstGeom prst="roundRect">
            <a:avLst>
              <a:gd name="adj" fmla="val 5000"/>
            </a:avLst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0" y="1280160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🔌 MCP Server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737360"/>
            <a:ext cx="2148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D6E5"/>
                </a:solidFill>
                <a:latin typeface="Microsoft YaHei"/>
              </a:defRPr>
            </a:pPr>
            <a:r>
              <a:t>注册 + 连接检测</a:t>
            </a:r>
            <a:br/>
            <a:r>
              <a:t>工具发现与管理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566160"/>
            <a:ext cx="2514600" cy="2240280"/>
          </a:xfrm>
          <a:prstGeom prst="roundRect">
            <a:avLst>
              <a:gd name="adj" fmla="val 5000"/>
            </a:avLst>
          </a:prstGeom>
          <a:solidFill>
            <a:srgbClr val="1B2E4A"/>
          </a:solidFill>
          <a:ln w="12700">
            <a:solidFill>
              <a:srgbClr val="2A4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31520" y="3566160"/>
            <a:ext cx="2514600" cy="36576"/>
          </a:xfrm>
          <a:prstGeom prst="roundRect">
            <a:avLst>
              <a:gd name="adj" fmla="val 5000"/>
            </a:avLst>
          </a:prstGeom>
          <a:solidFill>
            <a:srgbClr val="A0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3749040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🤖 LLM Provider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206240"/>
            <a:ext cx="2148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D6E5"/>
                </a:solidFill>
                <a:latin typeface="Microsoft YaHei"/>
              </a:defRPr>
            </a:pPr>
            <a:r>
              <a:t>模型提供商</a:t>
            </a:r>
            <a:br/>
            <a:r>
              <a:t>API Key 管理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74720" y="3566160"/>
            <a:ext cx="2514600" cy="2240280"/>
          </a:xfrm>
          <a:prstGeom prst="roundRect">
            <a:avLst>
              <a:gd name="adj" fmla="val 5000"/>
            </a:avLst>
          </a:prstGeom>
          <a:solidFill>
            <a:srgbClr val="1B2E4A"/>
          </a:solidFill>
          <a:ln w="12700">
            <a:solidFill>
              <a:srgbClr val="2A4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474720" y="3566160"/>
            <a:ext cx="2514600" cy="36576"/>
          </a:xfrm>
          <a:prstGeom prst="roundRect">
            <a:avLst>
              <a:gd name="adj" fmla="val 5000"/>
            </a:avLst>
          </a:prstGeom>
          <a:solidFill>
            <a:srgbClr val="F08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0" y="3749040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📊 执行记录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4206240"/>
            <a:ext cx="2148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D6E5"/>
                </a:solidFill>
                <a:latin typeface="Microsoft YaHei"/>
              </a:defRPr>
            </a:pPr>
            <a:r>
              <a:t>历史执行</a:t>
            </a:r>
            <a:br/>
            <a:r>
              <a:t>详情与日志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3566160"/>
            <a:ext cx="2514600" cy="2240280"/>
          </a:xfrm>
          <a:prstGeom prst="roundRect">
            <a:avLst>
              <a:gd name="adj" fmla="val 5000"/>
            </a:avLst>
          </a:prstGeom>
          <a:solidFill>
            <a:srgbClr val="1B2E4A"/>
          </a:solidFill>
          <a:ln w="12700">
            <a:solidFill>
              <a:srgbClr val="2A4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217920" y="3566160"/>
            <a:ext cx="2514600" cy="36576"/>
          </a:xfrm>
          <a:prstGeom prst="roundRect">
            <a:avLst>
              <a:gd name="adj" fmla="val 5000"/>
            </a:avLst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3749040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🧪 Agent Playground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206240"/>
            <a:ext cx="2148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D6E5"/>
                </a:solidFill>
                <a:latin typeface="Microsoft YaHei"/>
              </a:defRPr>
            </a:pPr>
            <a:r>
              <a:t>Agent 调试</a:t>
            </a:r>
            <a:br/>
            <a:r>
              <a:t>实时对话测试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61120" y="3566160"/>
            <a:ext cx="2514600" cy="2240280"/>
          </a:xfrm>
          <a:prstGeom prst="roundRect">
            <a:avLst>
              <a:gd name="adj" fmla="val 5000"/>
            </a:avLst>
          </a:prstGeom>
          <a:solidFill>
            <a:srgbClr val="1B2E4A"/>
          </a:solidFill>
          <a:ln w="12700">
            <a:solidFill>
              <a:srgbClr val="2A4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961120" y="3566160"/>
            <a:ext cx="2514600" cy="36576"/>
          </a:xfrm>
          <a:prstGeom prst="roundRect">
            <a:avLst>
              <a:gd name="adj" fmla="val 5000"/>
            </a:avLst>
          </a:prstGeom>
          <a:solidFill>
            <a:srgbClr val="4EC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0" y="3749040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📈 统计看板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4206240"/>
            <a:ext cx="2148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D6E5"/>
                </a:solidFill>
                <a:latin typeface="Microsoft YaHei"/>
              </a:defRPr>
            </a:pPr>
            <a:r>
              <a:t>Dashboard</a:t>
            </a:r>
            <a:br/>
            <a:r>
              <a:t>概览与统计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C8D6E5"/>
                </a:solidFill>
                <a:latin typeface="Microsoft YaHei"/>
              </a:defRPr>
            </a:pPr>
            <a:r>
              <a:t>11/15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45720"/>
          </a:xfrm>
          <a:prstGeom prst="roundRect">
            <a:avLst>
              <a:gd name="adj" fmla="val 5000"/>
            </a:avLst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项目运行效果展示（上）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77240"/>
            <a:ext cx="137160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C8D6E5"/>
                </a:solidFill>
                <a:latin typeface="Microsoft YaHei"/>
              </a:defRPr>
            </a:pPr>
            <a:r>
              <a:t>12/15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097280"/>
            <a:ext cx="3383280" cy="2286000"/>
          </a:xfrm>
          <a:prstGeom prst="roundRect">
            <a:avLst>
              <a:gd name="adj" fmla="val 5000"/>
            </a:avLst>
          </a:prstGeom>
          <a:solidFill>
            <a:srgbClr val="122238"/>
          </a:solidFill>
          <a:ln w="12700">
            <a:solidFill>
              <a:srgbClr val="2A4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207008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6D6"/>
                </a:solidFill>
                <a:latin typeface="Microsoft YaHei"/>
              </a:defRPr>
            </a:pPr>
            <a:r>
              <a:t>📷 工作流管理列表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73736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A6A8A"/>
                </a:solidFill>
                <a:latin typeface="Microsoft YaHei"/>
              </a:defRPr>
            </a:pPr>
            <a:r>
              <a:t>[ 系统截图：工作流管理列表 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097280"/>
            <a:ext cx="3383280" cy="2286000"/>
          </a:xfrm>
          <a:prstGeom prst="roundRect">
            <a:avLst>
              <a:gd name="adj" fmla="val 5000"/>
            </a:avLst>
          </a:prstGeom>
          <a:solidFill>
            <a:srgbClr val="122238"/>
          </a:solidFill>
          <a:ln w="12700">
            <a:solidFill>
              <a:srgbClr val="2A4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207008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6D6"/>
                </a:solidFill>
                <a:latin typeface="Microsoft YaHei"/>
              </a:defRPr>
            </a:pPr>
            <a:r>
              <a:t>📷 可视化编辑器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173736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A6A8A"/>
                </a:solidFill>
                <a:latin typeface="Microsoft YaHei"/>
              </a:defRPr>
            </a:pPr>
            <a:r>
              <a:t>[ 系统截图：可视化编辑器 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097280"/>
            <a:ext cx="3383280" cy="2286000"/>
          </a:xfrm>
          <a:prstGeom prst="roundRect">
            <a:avLst>
              <a:gd name="adj" fmla="val 5000"/>
            </a:avLst>
          </a:prstGeom>
          <a:solidFill>
            <a:srgbClr val="122238"/>
          </a:solidFill>
          <a:ln w="12700">
            <a:solidFill>
              <a:srgbClr val="2A4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1207008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6D6"/>
                </a:solidFill>
                <a:latin typeface="Microsoft YaHei"/>
              </a:defRPr>
            </a:pPr>
            <a:r>
              <a:t>📷 节点配置面板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173736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A6A8A"/>
                </a:solidFill>
                <a:latin typeface="Microsoft YaHei"/>
              </a:defRPr>
            </a:pPr>
            <a:r>
              <a:t>[ 系统截图：节点配置面板 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657600"/>
            <a:ext cx="3383280" cy="2286000"/>
          </a:xfrm>
          <a:prstGeom prst="roundRect">
            <a:avLst>
              <a:gd name="adj" fmla="val 5000"/>
            </a:avLst>
          </a:prstGeom>
          <a:solidFill>
            <a:srgbClr val="122238"/>
          </a:solidFill>
          <a:ln w="12700">
            <a:solidFill>
              <a:srgbClr val="2A4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767328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6D6"/>
                </a:solidFill>
                <a:latin typeface="Microsoft YaHei"/>
              </a:defRPr>
            </a:pPr>
            <a:r>
              <a:t>📷 执行结果展示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29768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A6A8A"/>
                </a:solidFill>
                <a:latin typeface="Microsoft YaHei"/>
              </a:defRPr>
            </a:pPr>
            <a:r>
              <a:t>[ 系统截图：执行结果展示 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3657600"/>
            <a:ext cx="3383280" cy="2286000"/>
          </a:xfrm>
          <a:prstGeom prst="roundRect">
            <a:avLst>
              <a:gd name="adj" fmla="val 5000"/>
            </a:avLst>
          </a:prstGeom>
          <a:solidFill>
            <a:srgbClr val="122238"/>
          </a:solidFill>
          <a:ln w="12700">
            <a:solidFill>
              <a:srgbClr val="2A4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3767328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6D6"/>
                </a:solidFill>
                <a:latin typeface="Microsoft YaHei"/>
              </a:defRPr>
            </a:pPr>
            <a:r>
              <a:t>📷 SSE 实时执行状态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429768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A6A8A"/>
                </a:solidFill>
                <a:latin typeface="Microsoft YaHei"/>
              </a:defRPr>
            </a:pPr>
            <a:r>
              <a:t>[ 系统截图：SSE 实时执行状态 ]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3657600"/>
            <a:ext cx="3383280" cy="2286000"/>
          </a:xfrm>
          <a:prstGeom prst="roundRect">
            <a:avLst>
              <a:gd name="adj" fmla="val 5000"/>
            </a:avLst>
          </a:prstGeom>
          <a:solidFill>
            <a:srgbClr val="122238"/>
          </a:solidFill>
          <a:ln w="12700">
            <a:solidFill>
              <a:srgbClr val="2A4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20" y="3767328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6D6"/>
                </a:solidFill>
                <a:latin typeface="Microsoft YaHei"/>
              </a:defRPr>
            </a:pPr>
            <a:r>
              <a:t>📷 工作流编辑画布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429768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A6A8A"/>
                </a:solidFill>
                <a:latin typeface="Microsoft YaHei"/>
              </a:defRPr>
            </a:pPr>
            <a:r>
              <a:t>[ 系统截图：工作流编辑画布 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C8D6E5"/>
                </a:solidFill>
                <a:latin typeface="Microsoft YaHei"/>
              </a:defRPr>
            </a:pPr>
            <a:r>
              <a:t>12/15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45720"/>
          </a:xfrm>
          <a:prstGeom prst="roundRect">
            <a:avLst>
              <a:gd name="adj" fmla="val 5000"/>
            </a:avLst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项目运行效果展示（下）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77240"/>
            <a:ext cx="137160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C8D6E5"/>
                </a:solidFill>
                <a:latin typeface="Microsoft YaHei"/>
              </a:defRPr>
            </a:pPr>
            <a:r>
              <a:t>13/15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097280"/>
            <a:ext cx="3383280" cy="2286000"/>
          </a:xfrm>
          <a:prstGeom prst="roundRect">
            <a:avLst>
              <a:gd name="adj" fmla="val 5000"/>
            </a:avLst>
          </a:prstGeom>
          <a:solidFill>
            <a:srgbClr val="122238"/>
          </a:solidFill>
          <a:ln w="12700">
            <a:solidFill>
              <a:srgbClr val="2A4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207008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6D6"/>
                </a:solidFill>
                <a:latin typeface="Microsoft YaHei"/>
              </a:defRPr>
            </a:pPr>
            <a:r>
              <a:t>📷 Agent Playground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73736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A6A8A"/>
                </a:solidFill>
                <a:latin typeface="Microsoft YaHei"/>
              </a:defRPr>
            </a:pPr>
            <a:r>
              <a:t>[ 系统截图：Agent Playground 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097280"/>
            <a:ext cx="3383280" cy="2286000"/>
          </a:xfrm>
          <a:prstGeom prst="roundRect">
            <a:avLst>
              <a:gd name="adj" fmla="val 5000"/>
            </a:avLst>
          </a:prstGeom>
          <a:solidFill>
            <a:srgbClr val="122238"/>
          </a:solidFill>
          <a:ln w="12700">
            <a:solidFill>
              <a:srgbClr val="2A4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207008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6D6"/>
                </a:solidFill>
                <a:latin typeface="Microsoft YaHei"/>
              </a:defRPr>
            </a:pPr>
            <a:r>
              <a:t>📷 执行日志详情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173736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A6A8A"/>
                </a:solidFill>
                <a:latin typeface="Microsoft YaHei"/>
              </a:defRPr>
            </a:pPr>
            <a:r>
              <a:t>[ 系统截图：执行日志详情 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097280"/>
            <a:ext cx="3383280" cy="2286000"/>
          </a:xfrm>
          <a:prstGeom prst="roundRect">
            <a:avLst>
              <a:gd name="adj" fmla="val 5000"/>
            </a:avLst>
          </a:prstGeom>
          <a:solidFill>
            <a:srgbClr val="122238"/>
          </a:solidFill>
          <a:ln w="12700">
            <a:solidFill>
              <a:srgbClr val="2A4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1207008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6D6"/>
                </a:solidFill>
                <a:latin typeface="Microsoft YaHei"/>
              </a:defRPr>
            </a:pPr>
            <a:r>
              <a:t>📷 Docker 部署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173736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A6A8A"/>
                </a:solidFill>
                <a:latin typeface="Microsoft YaHei"/>
              </a:defRPr>
            </a:pPr>
            <a:r>
              <a:t>[ 系统截图：Docker 部署 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657600"/>
            <a:ext cx="3383280" cy="2286000"/>
          </a:xfrm>
          <a:prstGeom prst="roundRect">
            <a:avLst>
              <a:gd name="adj" fmla="val 5000"/>
            </a:avLst>
          </a:prstGeom>
          <a:solidFill>
            <a:srgbClr val="122238"/>
          </a:solidFill>
          <a:ln w="12700">
            <a:solidFill>
              <a:srgbClr val="2A4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767328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6D6"/>
                </a:solidFill>
                <a:latin typeface="Microsoft YaHei"/>
              </a:defRPr>
            </a:pPr>
            <a:r>
              <a:t>📷 MCP Server 管理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29768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A6A8A"/>
                </a:solidFill>
                <a:latin typeface="Microsoft YaHei"/>
              </a:defRPr>
            </a:pPr>
            <a:r>
              <a:t>[ 系统截图：MCP Server 管理 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3657600"/>
            <a:ext cx="3383280" cy="2286000"/>
          </a:xfrm>
          <a:prstGeom prst="roundRect">
            <a:avLst>
              <a:gd name="adj" fmla="val 5000"/>
            </a:avLst>
          </a:prstGeom>
          <a:solidFill>
            <a:srgbClr val="122238"/>
          </a:solidFill>
          <a:ln w="12700">
            <a:solidFill>
              <a:srgbClr val="2A4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3767328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6D6"/>
                </a:solidFill>
                <a:latin typeface="Microsoft YaHei"/>
              </a:defRPr>
            </a:pPr>
            <a:r>
              <a:t>📷 LLM Provider 管理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429768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A6A8A"/>
                </a:solidFill>
                <a:latin typeface="Microsoft YaHei"/>
              </a:defRPr>
            </a:pPr>
            <a:r>
              <a:t>[ 系统截图：LLM Provider 管理 ]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3657600"/>
            <a:ext cx="3383280" cy="2286000"/>
          </a:xfrm>
          <a:prstGeom prst="roundRect">
            <a:avLst>
              <a:gd name="adj" fmla="val 5000"/>
            </a:avLst>
          </a:prstGeom>
          <a:solidFill>
            <a:srgbClr val="122238"/>
          </a:solidFill>
          <a:ln w="12700">
            <a:solidFill>
              <a:srgbClr val="2A4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20" y="3767328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6D6"/>
                </a:solidFill>
                <a:latin typeface="Microsoft YaHei"/>
              </a:defRPr>
            </a:pPr>
            <a:r>
              <a:t>📷 数据库管理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429768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A6A8A"/>
                </a:solidFill>
                <a:latin typeface="Microsoft YaHei"/>
              </a:defRPr>
            </a:pPr>
            <a:r>
              <a:t>[ 系统截图：数据库管理 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8521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EC98F"/>
                </a:solidFill>
                <a:latin typeface="Microsoft YaHei"/>
              </a:defRPr>
            </a:pPr>
            <a:r>
              <a:t>✅ 系统已实现从编排 → 配置 → 执行 → 监控 → 日志查看的完整闭环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C8D6E5"/>
                </a:solidFill>
                <a:latin typeface="Microsoft YaHei"/>
              </a:defRPr>
            </a:pPr>
            <a:r>
              <a:t>13/15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45720"/>
          </a:xfrm>
          <a:prstGeom prst="roundRect">
            <a:avLst>
              <a:gd name="adj" fmla="val 5000"/>
            </a:avLst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测试结果与项目总结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77240"/>
            <a:ext cx="137160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C8D6E5"/>
                </a:solidFill>
                <a:latin typeface="Microsoft YaHei"/>
              </a:defRPr>
            </a:pPr>
            <a:r>
              <a:t>14/15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097280"/>
            <a:ext cx="5303520" cy="3474720"/>
          </a:xfrm>
          <a:prstGeom prst="roundRect">
            <a:avLst>
              <a:gd name="adj" fmla="val 5000"/>
            </a:avLst>
          </a:prstGeom>
          <a:solidFill>
            <a:srgbClr val="1B2E4A"/>
          </a:solidFill>
          <a:ln w="12700">
            <a:solidFill>
              <a:srgbClr val="2A4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188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D6"/>
                </a:solidFill>
                <a:latin typeface="Microsoft YaHei"/>
              </a:defRPr>
            </a:pPr>
            <a:r>
              <a:t>🧪 功能测试结果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64592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EC98F"/>
                </a:solidFill>
                <a:latin typeface="Microsoft YaHei"/>
              </a:defRPr>
            </a:pPr>
            <a:r>
              <a:t>✅ 工作流管理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87452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D6E5"/>
                </a:solidFill>
                <a:latin typeface="Microsoft YaHei"/>
              </a:defRPr>
            </a:pPr>
            <a:r>
              <a:t>创建、编辑、删除功能正常，DAG 校验通过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19456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EC98F"/>
                </a:solidFill>
                <a:latin typeface="Microsoft YaHei"/>
              </a:defRPr>
            </a:pPr>
            <a:r>
              <a:t>✅ 多类型节点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2316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D6E5"/>
                </a:solidFill>
                <a:latin typeface="Microsoft YaHei"/>
              </a:defRPr>
            </a:pPr>
            <a:r>
              <a:t>8 种节点类型均可正常添加、配置与执行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74320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EC98F"/>
                </a:solidFill>
                <a:latin typeface="Microsoft YaHei"/>
              </a:defRPr>
            </a:pPr>
            <a:r>
              <a:t>✅ Agent 工具调用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97180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D6E5"/>
                </a:solidFill>
                <a:latin typeface="Microsoft YaHei"/>
              </a:defRPr>
            </a:pPr>
            <a:r>
              <a:t>通过 MCP 协议发现工具并完成调用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291839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EC98F"/>
                </a:solidFill>
                <a:latin typeface="Microsoft YaHei"/>
              </a:defRPr>
            </a:pPr>
            <a:r>
              <a:t>✅ SSE 实时推送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520439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D6E5"/>
                </a:solidFill>
                <a:latin typeface="Microsoft YaHei"/>
              </a:defRPr>
            </a:pPr>
            <a:r>
              <a:t>实时展示节点执行状态与输出内容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84048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EC98F"/>
                </a:solidFill>
                <a:latin typeface="Microsoft YaHei"/>
              </a:defRPr>
            </a:pPr>
            <a:r>
              <a:t>✅ Docker 部署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06908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D6E5"/>
                </a:solidFill>
                <a:latin typeface="Microsoft YaHei"/>
              </a:defRPr>
            </a:pPr>
            <a:r>
              <a:t>docker-compose up 一键启动全栈服务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0" y="1097280"/>
            <a:ext cx="4846320" cy="3474720"/>
          </a:xfrm>
          <a:prstGeom prst="roundRect">
            <a:avLst>
              <a:gd name="adj" fmla="val 5000"/>
            </a:avLst>
          </a:prstGeom>
          <a:solidFill>
            <a:srgbClr val="1B2E4A"/>
          </a:solidFill>
          <a:ln w="12700">
            <a:solidFill>
              <a:srgbClr val="2A4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0" y="1188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D6"/>
                </a:solidFill>
                <a:latin typeface="Microsoft YaHei"/>
              </a:defRPr>
            </a:pPr>
            <a:r>
              <a:t>📝 项目总结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645920"/>
            <a:ext cx="4389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本项目设计并实现了 MCPFlow</a:t>
            </a:r>
          </a:p>
          <a:p>
            <a:pPr algn="l">
              <a:spcAft>
                <a:spcPts val="12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一个面向多智能体协作的低代码、可视化工作流编排平台。</a:t>
            </a:r>
          </a:p>
          <a:p>
            <a:pPr algn="l">
              <a:spcAft>
                <a:spcPts val="12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通过集成 MCP 协议，实现了 Agent 对外部工具的标准化接入与调用。</a:t>
            </a:r>
          </a:p>
          <a:p>
            <a:pPr algn="l">
              <a:spcAft>
                <a:spcPts val="12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采用 DAG 引擎 + 模板变量机制，支持复杂任务的有序编排与数据传递。</a:t>
            </a:r>
          </a:p>
          <a:p>
            <a:pPr algn="l">
              <a:spcAft>
                <a:spcPts val="12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前后端分离 + 容器化部署，开箱即用。</a:t>
            </a:r>
          </a:p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有效降低了复杂 AI 自动化流程的构建门槛。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846320"/>
            <a:ext cx="10698480" cy="1737360"/>
          </a:xfrm>
          <a:prstGeom prst="roundRect">
            <a:avLst>
              <a:gd name="adj" fmla="val 5000"/>
            </a:avLst>
          </a:prstGeom>
          <a:solidFill>
            <a:srgbClr val="1B2E4A"/>
          </a:solidFill>
          <a:ln w="12700">
            <a:solidFill>
              <a:srgbClr val="FFA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9377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A050"/>
                </a:solidFill>
                <a:latin typeface="Microsoft YaHei"/>
              </a:defRPr>
            </a:pPr>
            <a:r>
              <a:t>🔮 未来展望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3492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A050"/>
                </a:solidFill>
                <a:latin typeface="Microsoft YaHei"/>
              </a:defRPr>
            </a:pPr>
            <a:r>
              <a:t>▸ 并行执行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57784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D6E5"/>
                </a:solidFill>
                <a:latin typeface="Microsoft YaHei"/>
              </a:defRPr>
            </a:pPr>
            <a:r>
              <a:t>多个独立节点并行调度，提升效率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53492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A050"/>
                </a:solidFill>
                <a:latin typeface="Microsoft YaHei"/>
              </a:defRPr>
            </a:pPr>
            <a:r>
              <a:t>▸ 权限管理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0" y="557784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D6E5"/>
                </a:solidFill>
                <a:latin typeface="Microsoft YaHei"/>
              </a:defRPr>
            </a:pPr>
            <a:r>
              <a:t>多用户角色与权限控制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53492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A050"/>
                </a:solidFill>
                <a:latin typeface="Microsoft YaHei"/>
              </a:defRPr>
            </a:pPr>
            <a:r>
              <a:t>▸ 版本管理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557784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D6E5"/>
                </a:solidFill>
                <a:latin typeface="Microsoft YaHei"/>
              </a:defRPr>
            </a:pPr>
            <a:r>
              <a:t>工作流版本控制与回滚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589788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A050"/>
                </a:solidFill>
                <a:latin typeface="Microsoft YaHei"/>
              </a:defRPr>
            </a:pPr>
            <a:r>
              <a:t>▸ 节点扩展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612648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D6E5"/>
                </a:solidFill>
                <a:latin typeface="Microsoft YaHei"/>
              </a:defRPr>
            </a:pPr>
            <a:r>
              <a:t>更多节点类型与插件机制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589788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A050"/>
                </a:solidFill>
                <a:latin typeface="Microsoft YaHei"/>
              </a:defRPr>
            </a:pPr>
            <a:r>
              <a:t>▸ 定时调度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0" y="612648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D6E5"/>
                </a:solidFill>
                <a:latin typeface="Microsoft YaHei"/>
              </a:defRPr>
            </a:pPr>
            <a:r>
              <a:t>Cron 定时触发工作流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0" y="589788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A050"/>
                </a:solidFill>
                <a:latin typeface="Microsoft YaHei"/>
              </a:defRPr>
            </a:pPr>
            <a:r>
              <a:t>▸ 分布式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612648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D6E5"/>
                </a:solidFill>
                <a:latin typeface="Microsoft YaHei"/>
              </a:defRPr>
            </a:pPr>
            <a:r>
              <a:t>支持多实例部署与负载均衡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C8D6E5"/>
                </a:solidFill>
                <a:latin typeface="Microsoft YaHei"/>
              </a:defRPr>
            </a:pPr>
            <a:r>
              <a:t>14/15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60F1E"/>
            </a:gs>
            <a:gs pos="100000">
              <a:srgbClr val="0D1B2A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45720"/>
          </a:xfrm>
          <a:prstGeom prst="roundRect">
            <a:avLst>
              <a:gd name="adj" fmla="val 5000"/>
            </a:avLst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6803136"/>
            <a:ext cx="12191695" cy="54864"/>
          </a:xfrm>
          <a:prstGeom prst="roundRect">
            <a:avLst>
              <a:gd name="adj" fmla="val 5000"/>
            </a:avLst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12191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致  谢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560320"/>
            <a:ext cx="2133295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926080"/>
            <a:ext cx="85340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感谢唐菀教授在选题、系统设计和论文撰写过程中的悉心指导</a:t>
            </a:r>
          </a:p>
          <a:p>
            <a:pPr algn="ctr">
              <a:spcAft>
                <a:spcPts val="200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感谢计算机学院（人工智能学院）各位老师四年来的培养与帮助</a:t>
            </a:r>
          </a:p>
          <a:p>
            <a:pPr algn="ctr">
              <a:spcAft>
                <a:spcPts val="200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感谢同学们在学习和生活中的支持与陪伴</a:t>
            </a:r>
          </a:p>
          <a:p>
            <a:pPr algn="ctr">
              <a:spcAft>
                <a:spcPts val="200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感谢家人一直以来的理解与鼓励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5303520"/>
            <a:ext cx="3047695" cy="18288"/>
          </a:xfrm>
          <a:prstGeom prst="roundRect">
            <a:avLst>
              <a:gd name="adj" fmla="val 5000"/>
            </a:avLst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548640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恳请各位老师批评指正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C8D6E5"/>
                </a:solidFill>
                <a:latin typeface="Microsoft YaHei"/>
              </a:defRPr>
            </a:pPr>
            <a:r>
              <a:t>15/15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