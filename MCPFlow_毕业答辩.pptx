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8" r:id="rId15"/>
    <p:sldId id="267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60F1E"/>
            </a:gs>
            <a:gs pos="100000">
              <a:srgbClr val="0D1B2A"/>
            </a:gs>
          </a:gsLst>
          <a:lin ang="135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36576" cy="25603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45920" y="1188720"/>
            <a:ext cx="1645920" cy="347472"/>
          </a:xfrm>
          <a:prstGeom prst="roundRect">
            <a:avLst>
              <a:gd name="adj" fmla="val 5000"/>
            </a:avLst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MCPFlow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96596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基于 MCP 协议的多智能体工作流编排平台的设计与实现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0" y="2926080"/>
            <a:ext cx="3200400" cy="2743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320040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C8D6E5"/>
                </a:solidFill>
                <a:latin typeface="微软雅黑"/>
              </a:defRPr>
            </a:pPr>
            <a:r>
              <a:t>答辩人：郑银杰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C8D6E5"/>
                </a:solidFill>
                <a:latin typeface="微软雅黑"/>
              </a:defRPr>
            </a:pPr>
            <a:r>
              <a:t>专  业：计算机科学与技术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C8D6E5"/>
                </a:solidFill>
                <a:latin typeface="微软雅黑"/>
              </a:defRPr>
            </a:pPr>
            <a:r>
              <a:t>学  院：计算机学院（人工智能学院）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C8D6E5"/>
                </a:solidFill>
                <a:latin typeface="微软雅黑"/>
              </a:defRPr>
            </a:pPr>
            <a:r>
              <a:t>指导教师：唐菀 教授</a:t>
            </a:r>
          </a:p>
          <a:p>
            <a:pPr algn="l">
              <a:defRPr sz="1600" b="0">
                <a:solidFill>
                  <a:srgbClr val="C8D6E5"/>
                </a:solidFill>
                <a:latin typeface="微软雅黑"/>
              </a:defRPr>
            </a:pPr>
            <a:r>
              <a:t>答辩日期：2026年5月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0" y="1188720"/>
            <a:ext cx="2286000" cy="457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0" y="2377440"/>
            <a:ext cx="2286000" cy="457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0" y="3566160"/>
            <a:ext cx="2286000" cy="457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0" y="5303520"/>
            <a:ext cx="1280160" cy="1280160"/>
          </a:xfrm>
          <a:prstGeom prst="ellipse">
            <a:avLst/>
          </a:prstGeom>
          <a:solidFill>
            <a:srgbClr val="0A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0" y="5760720"/>
            <a:ext cx="640080" cy="640080"/>
          </a:xfrm>
          <a:prstGeom prst="ellipse">
            <a:avLst/>
          </a:prstGeom>
          <a:solidFill>
            <a:srgbClr val="14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1/24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74320"/>
            <a:ext cx="2011680" cy="292608"/>
          </a:xfrm>
          <a:prstGeom prst="roundRect">
            <a:avLst>
              <a:gd name="adj" fmla="val 5000"/>
            </a:avLst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Part 1  工程背景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MCP 协议与工作流编排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4300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2/24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303520" cy="246888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2A4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5303520" cy="457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微软雅黑"/>
              </a:defRPr>
            </a:pPr>
            <a:r>
              <a:t>MCP (Model Context Protocol)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0312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300" b="0">
                <a:solidFill>
                  <a:srgbClr val="C8D6E5"/>
                </a:solidFill>
                <a:latin typeface="微软雅黑"/>
              </a:defRPr>
            </a:pPr>
            <a:r>
              <a:t>Anthropic 提出，标准化 AI-工具通信</a:t>
            </a:r>
          </a:p>
          <a:p>
            <a:pPr algn="l">
              <a:spcAft>
                <a:spcPts val="1200"/>
              </a:spcAft>
              <a:defRPr sz="1300" b="0">
                <a:solidFill>
                  <a:srgbClr val="C8D6E5"/>
                </a:solidFill>
                <a:latin typeface="微软雅黑"/>
              </a:defRPr>
            </a:pPr>
            <a:r>
              <a:t>核心抽象：Resources / Prompts / Tools</a:t>
            </a:r>
          </a:p>
          <a:p>
            <a:pPr algn="l">
              <a:spcAft>
                <a:spcPts val="1200"/>
              </a:spcAft>
              <a:defRPr sz="1300" b="0">
                <a:solidFill>
                  <a:srgbClr val="C8D6E5"/>
                </a:solidFill>
                <a:latin typeface="微软雅黑"/>
              </a:defRPr>
            </a:pPr>
            <a:r>
              <a:t>传输机制：Streamable HTTP + SSE fallback</a:t>
            </a:r>
          </a:p>
          <a:p>
            <a:pPr algn="l">
              <a:spcAft>
                <a:spcPts val="1200"/>
              </a:spcAft>
              <a:defRPr sz="1300" b="0">
                <a:solidFill>
                  <a:srgbClr val="C8D6E5"/>
                </a:solidFill>
                <a:latin typeface="微软雅黑"/>
              </a:defRPr>
            </a:pPr>
            <a:r>
              <a:t>服务端注册工具，客户端自动发现调用</a:t>
            </a:r>
          </a:p>
          <a:p>
            <a:pPr algn="l">
              <a:defRPr sz="1300" b="0">
                <a:solidFill>
                  <a:srgbClr val="C8D6E5"/>
                </a:solidFill>
                <a:latin typeface="微软雅黑"/>
              </a:defRPr>
            </a:pPr>
            <a:r>
              <a:t>本系统使用 mcp-go 库实现客户端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1463040"/>
            <a:ext cx="4846320" cy="246888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2A4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0" y="1463040"/>
            <a:ext cx="4846320" cy="45720"/>
          </a:xfrm>
          <a:prstGeom prst="rect">
            <a:avLst/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8F"/>
                </a:solidFill>
                <a:latin typeface="微软雅黑"/>
              </a:defRPr>
            </a:pPr>
            <a:r>
              <a:t>多智能体工作流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103120"/>
            <a:ext cx="4389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300" b="0">
                <a:solidFill>
                  <a:srgbClr val="C8D6E5"/>
                </a:solidFill>
                <a:latin typeface="微软雅黑"/>
              </a:defRPr>
            </a:pPr>
            <a:r>
              <a:t>LLM + Agent 快速发展，复杂任务需拆解</a:t>
            </a:r>
          </a:p>
          <a:p>
            <a:pPr algn="l">
              <a:spcAft>
                <a:spcPts val="1200"/>
              </a:spcAft>
              <a:defRPr sz="1300" b="0">
                <a:solidFill>
                  <a:srgbClr val="C8D6E5"/>
                </a:solidFill>
                <a:latin typeface="微软雅黑"/>
              </a:defRPr>
            </a:pPr>
            <a:r>
              <a:t>单次对话无法完成：需多步、多工具</a:t>
            </a:r>
          </a:p>
          <a:p>
            <a:pPr algn="l">
              <a:spcAft>
                <a:spcPts val="1200"/>
              </a:spcAft>
              <a:defRPr sz="1300" b="0">
                <a:solidFill>
                  <a:srgbClr val="C8D6E5"/>
                </a:solidFill>
                <a:latin typeface="微软雅黑"/>
              </a:defRPr>
            </a:pPr>
            <a:r>
              <a:t>DAG 工作流：有向无环，拓扑排序执行</a:t>
            </a:r>
          </a:p>
          <a:p>
            <a:pPr algn="l">
              <a:spcAft>
                <a:spcPts val="1200"/>
              </a:spcAft>
              <a:defRPr sz="1300" b="0">
                <a:solidFill>
                  <a:srgbClr val="C8D6E5"/>
                </a:solidFill>
                <a:latin typeface="微软雅黑"/>
              </a:defRPr>
            </a:pPr>
            <a:r>
              <a:t>条件分支实现动态流程跳转</a:t>
            </a:r>
          </a:p>
          <a:p>
            <a:pPr algn="l">
              <a:defRPr sz="1300" b="0">
                <a:solidFill>
                  <a:srgbClr val="C8D6E5"/>
                </a:solidFill>
                <a:latin typeface="微软雅黑"/>
              </a:defRPr>
            </a:pPr>
            <a:r>
              <a:t>节点间通过 Context 共享数据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06240"/>
            <a:ext cx="10698480" cy="237744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2A4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389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微软雅黑"/>
              </a:defRPr>
            </a:pPr>
            <a:r>
              <a:t>项目目标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4846320"/>
            <a:ext cx="1828800" cy="384048"/>
          </a:xfrm>
          <a:prstGeom prst="roundRect">
            <a:avLst>
              <a:gd name="adj" fmla="val 5000"/>
            </a:avLst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低代码编排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86460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D6E5"/>
                </a:solidFill>
                <a:latin typeface="微软雅黑"/>
              </a:defRPr>
            </a:pPr>
            <a:r>
              <a:t>可视化拖拽，降低 AI 流程构建门槛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846320"/>
            <a:ext cx="1828800" cy="384048"/>
          </a:xfrm>
          <a:prstGeom prst="roundRect">
            <a:avLst>
              <a:gd name="adj" fmla="val 5000"/>
            </a:avLst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MCP 协议集成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86460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D6E5"/>
                </a:solidFill>
                <a:latin typeface="微软雅黑"/>
              </a:defRPr>
            </a:pPr>
            <a:r>
              <a:t>标准化工具体接入，平台无关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39496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  <a:latin typeface="微软雅黑"/>
              </a:defRPr>
            </a:pPr>
            <a:r>
              <a:t>工作流可视化编辑器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623560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拖拽节点、连线、配置、保存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562356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A4A6B"/>
                </a:solidFill>
                <a:latin typeface="微软雅黑"/>
              </a:defRPr>
            </a:pPr>
            <a:r>
              <a:t>[基于 XYFlow + React]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539496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  <a:latin typeface="微软雅黑"/>
              </a:defRPr>
            </a:pPr>
            <a:r>
              <a:t>DAG 工作流执行引擎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5623560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拓扑排序 + 条件分支 + 变量传递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562356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A4A6B"/>
                </a:solidFill>
                <a:latin typeface="微软雅黑"/>
              </a:defRPr>
            </a:pPr>
            <a:r>
              <a:t>[Go + expr-lang + Goja]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589788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  <a:latin typeface="微软雅黑"/>
              </a:defRPr>
            </a:pPr>
            <a:r>
              <a:t>Agent + MCP 工具调用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6126480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工具发现 + Function Calling 循环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360" y="612648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A4A6B"/>
                </a:solidFill>
                <a:latin typeface="微软雅黑"/>
              </a:defRPr>
            </a:pPr>
            <a:r>
              <a:t>[mcp-go + OpenAI API]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89788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  <a:latin typeface="微软雅黑"/>
              </a:defRPr>
            </a:pPr>
            <a:r>
              <a:t>容器化一键部署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6126480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Docker Compose 启动全栈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612648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A4A6B"/>
                </a:solidFill>
                <a:latin typeface="微软雅黑"/>
              </a:defRPr>
            </a:pPr>
            <a:r>
              <a:t>[Docker + Nginx]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74320"/>
            <a:ext cx="2011680" cy="292608"/>
          </a:xfrm>
          <a:prstGeom prst="roundRect">
            <a:avLst>
              <a:gd name="adj" fmla="val 5000"/>
            </a:avLst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Part 2  设计思路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系统总体架构设计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43000"/>
            <a:ext cx="1828800" cy="38100"/>
          </a:xfrm>
          <a:prstGeom prst="rect">
            <a:avLst/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3/24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微软雅黑"/>
              </a:defRPr>
            </a:pPr>
            <a: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D6E5"/>
                </a:solidFill>
                <a:latin typeface="微软雅黑"/>
              </a:defRPr>
            </a:pPr>
            <a:r>
              <a:t>React + XYFlow + Ant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4231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Workflow Editor  |  XYFlow 拖拽编排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4231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Page UI  |  Ant Design 组件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67919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API Client  |  Axios 请求封装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67919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SSE Monitor  |  EventSource 监听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0" y="3108960"/>
            <a:ext cx="0" cy="4572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1520" y="3154680"/>
            <a:ext cx="10698480" cy="77724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4EC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98F"/>
                </a:solidFill>
                <a:latin typeface="微软雅黑"/>
              </a:defRPr>
            </a:pPr>
            <a:r>
              <a:t>Backend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474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D6E5"/>
                </a:solidFill>
                <a:latin typeface="微软雅黑"/>
              </a:defRPr>
            </a:pPr>
            <a:r>
              <a:t>Go + Gin + DAG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2461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REST API  |  工作流/Agent/MCP CRUD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2461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DAG Engine  |  拓扑排序 + 节点调度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50215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MCP Integration  |  工具发现与调用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50215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SSE Stream  |  实时推送执行状态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43600" y="3931920"/>
            <a:ext cx="0" cy="45720"/>
          </a:xfrm>
          <a:prstGeom prst="line">
            <a:avLst/>
          </a:prstGeom>
          <a:ln w="25400">
            <a:solidFill>
              <a:srgbClr val="4EC9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31520" y="3977639"/>
            <a:ext cx="10698480" cy="77724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2335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8CAE4"/>
                </a:solidFill>
                <a:latin typeface="微软雅黑"/>
              </a:defRPr>
            </a:pPr>
            <a:r>
              <a:t>Database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29767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D6E5"/>
                </a:solidFill>
                <a:latin typeface="微软雅黑"/>
              </a:defRPr>
            </a:pPr>
            <a:r>
              <a:t>MongoDB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4069079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Workflows Collection  |  工作流定义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069079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Executions Collection  |  执行记录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325111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MCP Servers  |  MCP 连接信息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4325111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LLM Providers  |  模型配置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943600" y="4754879"/>
            <a:ext cx="0" cy="45720"/>
          </a:xfrm>
          <a:prstGeom prst="line">
            <a:avLst/>
          </a:prstGeom>
          <a:ln w="25400">
            <a:solidFill>
              <a:srgbClr val="48C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31520" y="4800600"/>
            <a:ext cx="10698480" cy="77724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FFA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4846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A050"/>
                </a:solidFill>
                <a:latin typeface="微软雅黑"/>
              </a:defRPr>
            </a:pPr>
            <a:r>
              <a:t>External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51206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D6E5"/>
                </a:solidFill>
                <a:latin typeface="微软雅黑"/>
              </a:defRPr>
            </a:pPr>
            <a:r>
              <a:t>LLM Provider + MCP Server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8920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LLM Provider  |  OpenAI-compatible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0" y="48920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MCP Server  |  Streamable HTTP / SSE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78240" y="5623560"/>
            <a:ext cx="2286000" cy="237744"/>
          </a:xfrm>
          <a:prstGeom prst="roundRect">
            <a:avLst>
              <a:gd name="adj" fmla="val 5000"/>
            </a:avLst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微软雅黑"/>
              </a:defRPr>
            </a:pPr>
            <a:r>
              <a:t>Go + Gin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8240" y="5897880"/>
            <a:ext cx="2286000" cy="237744"/>
          </a:xfrm>
          <a:prstGeom prst="roundRect">
            <a:avLst>
              <a:gd name="adj" fmla="val 5000"/>
            </a:avLst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微软雅黑"/>
              </a:defRPr>
            </a:pPr>
            <a:r>
              <a:t>React + 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778240" y="6172200"/>
            <a:ext cx="2286000" cy="237744"/>
          </a:xfrm>
          <a:prstGeom prst="roundRect">
            <a:avLst>
              <a:gd name="adj" fmla="val 5000"/>
            </a:avLst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微软雅黑"/>
              </a:defRPr>
            </a:pPr>
            <a:r>
              <a:t>MongoDB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78240" y="6446519"/>
            <a:ext cx="2286000" cy="237744"/>
          </a:xfrm>
          <a:prstGeom prst="roundRect">
            <a:avLst>
              <a:gd name="adj" fmla="val 5000"/>
            </a:avLst>
          </a:prstGeom>
          <a:solidFill>
            <a:srgbClr val="FF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微软雅黑"/>
              </a:defRPr>
            </a:pPr>
            <a:r>
              <a:t>Docker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F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74320"/>
            <a:ext cx="2011680" cy="292608"/>
          </a:xfrm>
          <a:prstGeom prst="roundRect">
            <a:avLst>
              <a:gd name="adj" fmla="val 5000"/>
            </a:avLst>
          </a:prstGeom>
          <a:solidFill>
            <a:srgbClr val="FF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Part 2  设计思路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核心设计：节点类型 &amp; 模板变量机制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43000"/>
            <a:ext cx="1828800" cy="38100"/>
          </a:xfrm>
          <a:prstGeom prst="rect">
            <a:avLst/>
          </a:prstGeom>
          <a:solidFill>
            <a:srgbClr val="FF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4/24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301752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2A4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698480" cy="45720"/>
          </a:xfrm>
          <a:prstGeom prst="rect">
            <a:avLst/>
          </a:prstGeom>
          <a:solidFill>
            <a:srgbClr val="FF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0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A050"/>
                </a:solidFill>
                <a:latin typeface="微软雅黑"/>
              </a:defRPr>
            </a:pPr>
            <a:r>
              <a:t>8 种节点类型 — 各司其职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2057400"/>
            <a:ext cx="1188720" cy="320040"/>
          </a:xfrm>
          <a:prstGeom prst="roundRect">
            <a:avLst>
              <a:gd name="adj" fmla="val 5000"/>
            </a:avLst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Start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441448"/>
            <a:ext cx="2286000" cy="50292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4EC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4688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入口参数定义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2057400"/>
            <a:ext cx="1188720" cy="320040"/>
          </a:xfrm>
          <a:prstGeom prst="roundRect">
            <a:avLst>
              <a:gd name="adj" fmla="val 5000"/>
            </a:avLst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LLM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2441448"/>
            <a:ext cx="2286000" cy="50292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0" y="24688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模型+提示词+温度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057400"/>
            <a:ext cx="1188720" cy="320040"/>
          </a:xfrm>
          <a:prstGeom prst="roundRect">
            <a:avLst>
              <a:gd name="adj" fmla="val 5000"/>
            </a:avLst>
          </a:prstGeom>
          <a:solidFill>
            <a:srgbClr val="FF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441448"/>
            <a:ext cx="2286000" cy="50292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FFA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4688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MCP服务+工具循环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2057400"/>
            <a:ext cx="1188720" cy="320040"/>
          </a:xfrm>
          <a:prstGeom prst="roundRect">
            <a:avLst>
              <a:gd name="adj" fmla="val 5000"/>
            </a:avLst>
          </a:prstGeom>
          <a:solidFill>
            <a:srgbClr val="A0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Condition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441448"/>
            <a:ext cx="2286000" cy="50292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A0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0" y="24688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表达式条件分支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40" y="2971800"/>
            <a:ext cx="1188720" cy="320040"/>
          </a:xfrm>
          <a:prstGeom prst="roundRect">
            <a:avLst>
              <a:gd name="adj" fmla="val 5000"/>
            </a:avLst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" y="3355848"/>
            <a:ext cx="2286000" cy="50292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4EC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结果输出展示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0" y="2971800"/>
            <a:ext cx="1188720" cy="320040"/>
          </a:xfrm>
          <a:prstGeom prst="roundRect">
            <a:avLst>
              <a:gd name="adj" fmla="val 5000"/>
            </a:avLst>
          </a:prstGeom>
          <a:solidFill>
            <a:srgbClr val="F08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Code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0" y="3355848"/>
            <a:ext cx="2286000" cy="50292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F08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40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JS沙箱执行代码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2971800"/>
            <a:ext cx="1188720" cy="320040"/>
          </a:xfrm>
          <a:prstGeom prst="roundRect">
            <a:avLst>
              <a:gd name="adj" fmla="val 5000"/>
            </a:avLst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HTTP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355848"/>
            <a:ext cx="2286000" cy="50292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REST API调用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4000" y="2971800"/>
            <a:ext cx="1188720" cy="320040"/>
          </a:xfrm>
          <a:prstGeom prst="roundRect">
            <a:avLst>
              <a:gd name="adj" fmla="val 5000"/>
            </a:avLst>
          </a:prstGeom>
          <a:solidFill>
            <a:srgbClr val="A0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Email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0" y="3355848"/>
            <a:ext cx="2286000" cy="50292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A0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0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SMTP邮件发送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754880"/>
            <a:ext cx="10698480" cy="182880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2A4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520" y="4754880"/>
            <a:ext cx="10698480" cy="45720"/>
          </a:xfrm>
          <a:prstGeom prst="rect">
            <a:avLst/>
          </a:prstGeom>
          <a:solidFill>
            <a:srgbClr val="FF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88720" y="4892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A050"/>
                </a:solidFill>
                <a:latin typeface="微软雅黑"/>
              </a:defRPr>
            </a:pPr>
            <a:r>
              <a:t>执行上下文 &amp; 模板变量机制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88720" y="5349240"/>
            <a:ext cx="1371600" cy="502920"/>
          </a:xfrm>
          <a:prstGeom prst="roundRect">
            <a:avLst>
              <a:gd name="adj" fmla="val 5000"/>
            </a:avLst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上游节点</a:t>
            </a:r>
            <a:br/>
            <a:r>
              <a:t>执行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108960" y="5349240"/>
            <a:ext cx="1371600" cy="502920"/>
          </a:xfrm>
          <a:prstGeom prst="roundRect">
            <a:avLst>
              <a:gd name="adj" fmla="val 5000"/>
            </a:avLst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输出写入</a:t>
            </a:r>
            <a:br/>
            <a:r>
              <a:t>Context KV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0" y="5349240"/>
            <a:ext cx="1371600" cy="502920"/>
          </a:xfrm>
          <a:prstGeom prst="roundRect">
            <a:avLst>
              <a:gd name="adj" fmla="val 5000"/>
            </a:avLst>
          </a:prstGeom>
          <a:solidFill>
            <a:srgbClr val="A0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模板变量</a:t>
            </a:r>
            <a:br/>
            <a:r>
              <a:t>引用解析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49440" y="5349240"/>
            <a:ext cx="1371600" cy="502920"/>
          </a:xfrm>
          <a:prstGeom prst="roundRect">
            <a:avLst>
              <a:gd name="adj" fmla="val 5000"/>
            </a:avLst>
          </a:prstGeom>
          <a:solidFill>
            <a:srgbClr val="F08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运行时</a:t>
            </a:r>
            <a:br/>
            <a:r>
              <a:t>替换注入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69680" y="5349240"/>
            <a:ext cx="1371600" cy="502920"/>
          </a:xfrm>
          <a:prstGeom prst="roundRect">
            <a:avLst>
              <a:gd name="adj" fmla="val 5000"/>
            </a:avLst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下游节点</a:t>
            </a:r>
            <a:br/>
            <a:r>
              <a:t>使用结果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2606040" y="5468112"/>
            <a:ext cx="164592" cy="201168"/>
          </a:xfrm>
          <a:prstGeom prst="rightArrow">
            <a:avLst/>
          </a:prstGeom>
          <a:solidFill>
            <a:srgbClr val="2A4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ight Arrow 42"/>
          <p:cNvSpPr/>
          <p:nvPr/>
        </p:nvSpPr>
        <p:spPr>
          <a:xfrm>
            <a:off x="4526280" y="5468112"/>
            <a:ext cx="164592" cy="201168"/>
          </a:xfrm>
          <a:prstGeom prst="rightArrow">
            <a:avLst/>
          </a:prstGeom>
          <a:solidFill>
            <a:srgbClr val="2A4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ight Arrow 43"/>
          <p:cNvSpPr/>
          <p:nvPr/>
        </p:nvSpPr>
        <p:spPr>
          <a:xfrm>
            <a:off x="6446520" y="5468112"/>
            <a:ext cx="164592" cy="201168"/>
          </a:xfrm>
          <a:prstGeom prst="rightArrow">
            <a:avLst/>
          </a:prstGeom>
          <a:solidFill>
            <a:srgbClr val="2A4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ight Arrow 44"/>
          <p:cNvSpPr/>
          <p:nvPr/>
        </p:nvSpPr>
        <p:spPr>
          <a:xfrm>
            <a:off x="8366760" y="5468112"/>
            <a:ext cx="164592" cy="201168"/>
          </a:xfrm>
          <a:prstGeom prst="rightArrow">
            <a:avLst/>
          </a:prstGeom>
          <a:solidFill>
            <a:srgbClr val="2A4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88720" y="6035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D6E5"/>
                </a:solidFill>
                <a:latin typeface="微软雅黑"/>
              </a:defRPr>
            </a:pPr>
            <a:r>
              <a:t>支持对象嵌套访问、数组索引和条件布尔表达式 — 实现节点间数据共享与动态流程控制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74320"/>
            <a:ext cx="2011680" cy="292608"/>
          </a:xfrm>
          <a:prstGeom prst="roundRect">
            <a:avLst>
              <a:gd name="adj" fmla="val 5000"/>
            </a:avLst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Part 2  设计思路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核心设计：DAG 工作流引擎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43000"/>
            <a:ext cx="1828800" cy="38100"/>
          </a:xfrm>
          <a:prstGeom prst="rect">
            <a:avLst/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5/24</a:t>
            </a:r>
          </a:p>
        </p:txBody>
      </p:sp>
      <p:sp>
        <p:nvSpPr>
          <p:cNvPr id="7" name="Oval 6"/>
          <p:cNvSpPr/>
          <p:nvPr/>
        </p:nvSpPr>
        <p:spPr>
          <a:xfrm>
            <a:off x="2103120" y="1463040"/>
            <a:ext cx="292608" cy="292608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48840" y="1490472"/>
            <a:ext cx="201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微软雅黑"/>
              </a:defRPr>
            </a:pPr>
            <a: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3291840" cy="77724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202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微软雅黑"/>
              </a:defRPr>
            </a:pPr>
            <a:r>
              <a:t>拓扑排序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Kahn BFS</a:t>
            </a:r>
            <a:br/>
            <a:r>
              <a:t>确定执行顺序</a:t>
            </a:r>
          </a:p>
        </p:txBody>
      </p:sp>
      <p:sp>
        <p:nvSpPr>
          <p:cNvPr id="12" name="Oval 11"/>
          <p:cNvSpPr/>
          <p:nvPr/>
        </p:nvSpPr>
        <p:spPr>
          <a:xfrm>
            <a:off x="5760720" y="1463040"/>
            <a:ext cx="292608" cy="292608"/>
          </a:xfrm>
          <a:prstGeom prst="ellipse">
            <a:avLst/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440" y="1490472"/>
            <a:ext cx="201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874520"/>
            <a:ext cx="3291840" cy="77724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4EC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9202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8F"/>
                </a:solidFill>
                <a:latin typeface="微软雅黑"/>
              </a:defRPr>
            </a:pPr>
            <a:r>
              <a:t>初始化上下文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21284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创建 KV 存储</a:t>
            </a:r>
            <a:br/>
            <a:r>
              <a:t>注入用户输入</a:t>
            </a:r>
          </a:p>
        </p:txBody>
      </p:sp>
      <p:sp>
        <p:nvSpPr>
          <p:cNvPr id="17" name="Oval 16"/>
          <p:cNvSpPr/>
          <p:nvPr/>
        </p:nvSpPr>
        <p:spPr>
          <a:xfrm>
            <a:off x="9418320" y="1463040"/>
            <a:ext cx="292608" cy="292608"/>
          </a:xfrm>
          <a:prstGeom prst="ellipse">
            <a:avLst/>
          </a:prstGeom>
          <a:solidFill>
            <a:srgbClr val="FF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64040" y="1490472"/>
            <a:ext cx="201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874520"/>
            <a:ext cx="3291840" cy="77724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FFA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19202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50"/>
                </a:solidFill>
                <a:latin typeface="微软雅黑"/>
              </a:defRPr>
            </a:pPr>
            <a:r>
              <a:t>节点调度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21284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遍历拓扑序列</a:t>
            </a:r>
            <a:br/>
            <a:r>
              <a:t>路由到对应 Handler</a:t>
            </a:r>
          </a:p>
        </p:txBody>
      </p:sp>
      <p:sp>
        <p:nvSpPr>
          <p:cNvPr id="22" name="Oval 21"/>
          <p:cNvSpPr/>
          <p:nvPr/>
        </p:nvSpPr>
        <p:spPr>
          <a:xfrm>
            <a:off x="2103120" y="2834640"/>
            <a:ext cx="292608" cy="292608"/>
          </a:xfrm>
          <a:prstGeom prst="ellipse">
            <a:avLst/>
          </a:prstGeom>
          <a:solidFill>
            <a:srgbClr val="A0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48840" y="2862072"/>
            <a:ext cx="201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246120"/>
            <a:ext cx="3291840" cy="77724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A0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291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080FF"/>
                </a:solidFill>
                <a:latin typeface="微软雅黑"/>
              </a:defRPr>
            </a:pPr>
            <a:r>
              <a:t>条件分支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58444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评估条件表达式</a:t>
            </a:r>
            <a:br/>
            <a:r>
              <a:t>跳过 false 路径</a:t>
            </a:r>
          </a:p>
        </p:txBody>
      </p:sp>
      <p:sp>
        <p:nvSpPr>
          <p:cNvPr id="27" name="Oval 26"/>
          <p:cNvSpPr/>
          <p:nvPr/>
        </p:nvSpPr>
        <p:spPr>
          <a:xfrm>
            <a:off x="5760720" y="2834640"/>
            <a:ext cx="292608" cy="292608"/>
          </a:xfrm>
          <a:prstGeom prst="ellipse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2862072"/>
            <a:ext cx="201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微软雅黑"/>
              </a:defRPr>
            </a:pPr>
            <a: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89120" y="3246120"/>
            <a:ext cx="3291840" cy="77724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80" y="3291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8CAE4"/>
                </a:solidFill>
                <a:latin typeface="微软雅黑"/>
              </a:defRPr>
            </a:pPr>
            <a:r>
              <a:t>保存 &amp; 记录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358444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写 Context</a:t>
            </a:r>
            <a:br/>
            <a:r>
              <a:t>记录耗时 + 输出</a:t>
            </a:r>
          </a:p>
        </p:txBody>
      </p:sp>
      <p:sp>
        <p:nvSpPr>
          <p:cNvPr id="32" name="Oval 31"/>
          <p:cNvSpPr/>
          <p:nvPr/>
        </p:nvSpPr>
        <p:spPr>
          <a:xfrm>
            <a:off x="9418320" y="2834640"/>
            <a:ext cx="292608" cy="292608"/>
          </a:xfrm>
          <a:prstGeom prst="ellipse">
            <a:avLst/>
          </a:prstGeom>
          <a:solidFill>
            <a:srgbClr val="F08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64040" y="2862072"/>
            <a:ext cx="201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微软雅黑"/>
              </a:defRPr>
            </a:pPr>
            <a:r>
              <a:t>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3246120"/>
            <a:ext cx="3291840" cy="77724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F08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80" y="3291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8060"/>
                </a:solidFill>
                <a:latin typeface="微软雅黑"/>
              </a:defRPr>
            </a:pPr>
            <a:r>
              <a:t>SSE 推送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80" y="358444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实时推送状态</a:t>
            </a:r>
            <a:br/>
            <a:r>
              <a:t>前端展示进度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4343400"/>
            <a:ext cx="5303520" cy="224028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2A4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4343400"/>
            <a:ext cx="5303520" cy="45720"/>
          </a:xfrm>
          <a:prstGeom prst="rect">
            <a:avLst/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4480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98F"/>
                </a:solidFill>
                <a:latin typeface="微软雅黑"/>
              </a:defRPr>
            </a:pPr>
            <a:r>
              <a:t>策略模式：节点类型 → Handler 路由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5840" y="4800600"/>
            <a:ext cx="1051560" cy="365760"/>
          </a:xfrm>
          <a:prstGeom prst="roundRect">
            <a:avLst>
              <a:gd name="adj" fmla="val 5000"/>
            </a:avLst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Start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40280" y="4800600"/>
            <a:ext cx="1051560" cy="365760"/>
          </a:xfrm>
          <a:prstGeom prst="roundRect">
            <a:avLst>
              <a:gd name="adj" fmla="val 5000"/>
            </a:avLst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LLM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74720" y="4800600"/>
            <a:ext cx="1051560" cy="365760"/>
          </a:xfrm>
          <a:prstGeom prst="roundRect">
            <a:avLst>
              <a:gd name="adj" fmla="val 5000"/>
            </a:avLst>
          </a:prstGeom>
          <a:solidFill>
            <a:srgbClr val="FF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09160" y="4800600"/>
            <a:ext cx="1051560" cy="365760"/>
          </a:xfrm>
          <a:prstGeom prst="roundRect">
            <a:avLst>
              <a:gd name="adj" fmla="val 5000"/>
            </a:avLst>
          </a:prstGeom>
          <a:solidFill>
            <a:srgbClr val="A0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Condition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05840" y="5303520"/>
            <a:ext cx="1051560" cy="365760"/>
          </a:xfrm>
          <a:prstGeom prst="roundRect">
            <a:avLst>
              <a:gd name="adj" fmla="val 5000"/>
            </a:avLst>
          </a:prstGeom>
          <a:solidFill>
            <a:srgbClr val="A0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Code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40280" y="5303520"/>
            <a:ext cx="1051560" cy="365760"/>
          </a:xfrm>
          <a:prstGeom prst="roundRect">
            <a:avLst>
              <a:gd name="adj" fmla="val 5000"/>
            </a:avLst>
          </a:prstGeom>
          <a:solidFill>
            <a:srgbClr val="F08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HTTP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74720" y="5303520"/>
            <a:ext cx="1051560" cy="365760"/>
          </a:xfrm>
          <a:prstGeom prst="roundRect">
            <a:avLst>
              <a:gd name="adj" fmla="val 5000"/>
            </a:avLst>
          </a:prstGeom>
          <a:solidFill>
            <a:srgbClr val="F08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Email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709160" y="5303520"/>
            <a:ext cx="1051560" cy="365760"/>
          </a:xfrm>
          <a:prstGeom prst="roundRect">
            <a:avLst>
              <a:gd name="adj" fmla="val 5000"/>
            </a:avLst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End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05840" y="5806440"/>
            <a:ext cx="5029200" cy="36576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8D6E5"/>
                </a:solidFill>
                <a:latin typeface="微软雅黑"/>
              </a:defRPr>
            </a:pPr>
            <a:r>
              <a:t>引擎通过拓扑排序依次调用 → 根据节点类型路由到对应 Handler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83680" y="4343400"/>
            <a:ext cx="4846320" cy="224028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2A4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583680" y="4343400"/>
            <a:ext cx="4846320" cy="45720"/>
          </a:xfrm>
          <a:prstGeom prst="rect">
            <a:avLst/>
          </a:prstGeom>
          <a:solidFill>
            <a:srgbClr val="FF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0" y="44805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A050"/>
                </a:solidFill>
                <a:latin typeface="微软雅黑"/>
              </a:defRPr>
            </a:pPr>
            <a:r>
              <a:t>Code 节点：Goja JS 沙箱执行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766560" y="4983480"/>
            <a:ext cx="822960" cy="640080"/>
          </a:xfrm>
          <a:prstGeom prst="roundRect">
            <a:avLst>
              <a:gd name="adj" fmla="val 5000"/>
            </a:avLst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12280" y="502920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微软雅黑"/>
              </a:defRPr>
            </a:pPr>
            <a:r>
              <a:t>用户编写</a:t>
            </a:r>
            <a:br/>
            <a:r>
              <a:t>JS 逻辑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7607808" y="5212080"/>
            <a:ext cx="164592" cy="201168"/>
          </a:xfrm>
          <a:prstGeom prst="rightArrow">
            <a:avLst/>
          </a:prstGeom>
          <a:solidFill>
            <a:srgbClr val="2A4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726680" y="4983480"/>
            <a:ext cx="822960" cy="640080"/>
          </a:xfrm>
          <a:prstGeom prst="roundRect">
            <a:avLst>
              <a:gd name="adj" fmla="val 5000"/>
            </a:avLst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0" y="502920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微软雅黑"/>
              </a:defRPr>
            </a:pPr>
            <a:r>
              <a:t>Goja</a:t>
            </a:r>
            <a:br/>
            <a:r>
              <a:t>纯Go沙箱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8567928" y="5212080"/>
            <a:ext cx="164592" cy="201168"/>
          </a:xfrm>
          <a:prstGeom prst="rightArrow">
            <a:avLst/>
          </a:prstGeom>
          <a:solidFill>
            <a:srgbClr val="2A4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686800" y="4983480"/>
            <a:ext cx="822960" cy="640080"/>
          </a:xfrm>
          <a:prstGeom prst="roundRect">
            <a:avLst>
              <a:gd name="adj" fmla="val 5000"/>
            </a:avLst>
          </a:prstGeom>
          <a:solidFill>
            <a:srgbClr val="A0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32520" y="502920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微软雅黑"/>
              </a:defRPr>
            </a:pPr>
            <a:r>
              <a:t>读取</a:t>
            </a:r>
            <a:br/>
            <a:r>
              <a:t>Context</a:t>
            </a:r>
          </a:p>
        </p:txBody>
      </p:sp>
      <p:sp>
        <p:nvSpPr>
          <p:cNvPr id="60" name="Right Arrow 59"/>
          <p:cNvSpPr/>
          <p:nvPr/>
        </p:nvSpPr>
        <p:spPr>
          <a:xfrm>
            <a:off x="9528048" y="5212080"/>
            <a:ext cx="164592" cy="201168"/>
          </a:xfrm>
          <a:prstGeom prst="rightArrow">
            <a:avLst/>
          </a:prstGeom>
          <a:solidFill>
            <a:srgbClr val="2A4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9646920" y="4983480"/>
            <a:ext cx="822960" cy="640080"/>
          </a:xfrm>
          <a:prstGeom prst="roundRect">
            <a:avLst>
              <a:gd name="adj" fmla="val 5000"/>
            </a:avLst>
          </a:prstGeom>
          <a:solidFill>
            <a:srgbClr val="F08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92640" y="502920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微软雅黑"/>
              </a:defRPr>
            </a:pPr>
            <a:r>
              <a:t>运算</a:t>
            </a:r>
            <a:br/>
            <a:r>
              <a:t>处理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10488168" y="5212080"/>
            <a:ext cx="164592" cy="201168"/>
          </a:xfrm>
          <a:prstGeom prst="rightArrow">
            <a:avLst/>
          </a:prstGeom>
          <a:solidFill>
            <a:srgbClr val="2A4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10607040" y="4983480"/>
            <a:ext cx="822960" cy="640080"/>
          </a:xfrm>
          <a:prstGeom prst="roundRect">
            <a:avLst>
              <a:gd name="adj" fmla="val 5000"/>
            </a:avLst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652760" y="502920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微软雅黑"/>
              </a:defRPr>
            </a:pPr>
            <a:r>
              <a:t>写回</a:t>
            </a:r>
            <a:br/>
            <a:r>
              <a:t>Context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0" y="576072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0">
                <a:solidFill>
                  <a:srgbClr val="C8D6E5"/>
                </a:solidFill>
                <a:latin typeface="微软雅黑"/>
              </a:defRPr>
            </a:pPr>
            <a:r>
              <a:t>纯 Go 实现的 JS 虚拟机，无 OS 访问权限</a:t>
            </a:r>
          </a:p>
          <a:p>
            <a:pPr algn="l">
              <a:spcAft>
                <a:spcPts val="600"/>
              </a:spcAft>
              <a:defRPr sz="1100" b="0">
                <a:solidFill>
                  <a:srgbClr val="C8D6E5"/>
                </a:solidFill>
                <a:latin typeface="微软雅黑"/>
              </a:defRPr>
            </a:pPr>
            <a:r>
              <a:t>限制最大执行时间，保证沙箱安全</a:t>
            </a:r>
          </a:p>
          <a:p>
            <a:pPr algn="l">
              <a:defRPr sz="1100" b="0">
                <a:solidFill>
                  <a:srgbClr val="C8D6E5"/>
                </a:solidFill>
                <a:latin typeface="微软雅黑"/>
              </a:defRPr>
            </a:pPr>
            <a:r>
              <a:t>通过 ctx.set() 写入结果供下游节点引用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A0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74320"/>
            <a:ext cx="2011680" cy="292608"/>
          </a:xfrm>
          <a:prstGeom prst="roundRect">
            <a:avLst>
              <a:gd name="adj" fmla="val 5000"/>
            </a:avLst>
          </a:prstGeom>
          <a:solidFill>
            <a:srgbClr val="A0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Part 2  设计思路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核心设计：Agent 与 MCP 协议集成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43000"/>
            <a:ext cx="1828800" cy="38100"/>
          </a:xfrm>
          <a:prstGeom prst="rect">
            <a:avLst/>
          </a:prstGeom>
          <a:solidFill>
            <a:srgbClr val="A0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6/24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080FF"/>
                </a:solidFill>
                <a:latin typeface="微软雅黑"/>
              </a:defRPr>
            </a:pPr>
            <a:r>
              <a:t>Agent Node Execution (7-step Flow)</a:t>
            </a:r>
          </a:p>
        </p:txBody>
      </p:sp>
      <p:sp>
        <p:nvSpPr>
          <p:cNvPr id="8" name="Oval 7"/>
          <p:cNvSpPr/>
          <p:nvPr/>
        </p:nvSpPr>
        <p:spPr>
          <a:xfrm>
            <a:off x="1532991" y="1673351"/>
            <a:ext cx="201168" cy="201168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1279" y="1691639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微软雅黑"/>
              </a:defRPr>
            </a:pPr>
            <a: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21511" y="1947671"/>
            <a:ext cx="1280160" cy="82296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7231" y="2039111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微软雅黑"/>
              </a:defRPr>
            </a:pPr>
            <a:r>
              <a:t>Connect</a:t>
            </a:r>
            <a:br/>
            <a:r>
              <a:t>MCP Server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419959" y="2240279"/>
            <a:ext cx="164592" cy="201168"/>
          </a:xfrm>
          <a:prstGeom prst="rightArrow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977743" y="1673351"/>
            <a:ext cx="201168" cy="201168"/>
          </a:xfrm>
          <a:prstGeom prst="ellipse">
            <a:avLst/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6031" y="1691639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66263" y="1947671"/>
            <a:ext cx="1280160" cy="82296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4EC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11983" y="2039111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微软雅黑"/>
              </a:defRPr>
            </a:pPr>
            <a:r>
              <a:t>Discover</a:t>
            </a:r>
            <a:br/>
            <a:r>
              <a:t>tools/list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864711" y="2240279"/>
            <a:ext cx="164592" cy="201168"/>
          </a:xfrm>
          <a:prstGeom prst="rightArrow">
            <a:avLst/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22495" y="1673351"/>
            <a:ext cx="201168" cy="201168"/>
          </a:xfrm>
          <a:prstGeom prst="ellipse">
            <a:avLst/>
          </a:prstGeom>
          <a:solidFill>
            <a:srgbClr val="A0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40783" y="1691639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11015" y="1947671"/>
            <a:ext cx="1280160" cy="82296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A0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56735" y="2039111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微软雅黑"/>
              </a:defRPr>
            </a:pPr>
            <a:r>
              <a:t>Function</a:t>
            </a:r>
            <a:br/>
            <a:r>
              <a:t>Calling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309463" y="2240279"/>
            <a:ext cx="164592" cy="201168"/>
          </a:xfrm>
          <a:prstGeom prst="rightArrow">
            <a:avLst/>
          </a:prstGeom>
          <a:solidFill>
            <a:srgbClr val="A0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67247" y="1673351"/>
            <a:ext cx="201168" cy="201168"/>
          </a:xfrm>
          <a:prstGeom prst="ellipse">
            <a:avLst/>
          </a:prstGeom>
          <a:solidFill>
            <a:srgbClr val="FF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85535" y="1691639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55767" y="1947671"/>
            <a:ext cx="1280160" cy="82296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FFA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01487" y="2039111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微软雅黑"/>
              </a:defRPr>
            </a:pPr>
            <a:r>
              <a:t>LLM</a:t>
            </a:r>
            <a:br/>
            <a:r>
              <a:t>Decision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6754215" y="2240279"/>
            <a:ext cx="164592" cy="201168"/>
          </a:xfrm>
          <a:prstGeom prst="rightArrow">
            <a:avLst/>
          </a:prstGeom>
          <a:solidFill>
            <a:srgbClr val="FF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1999" y="1673351"/>
            <a:ext cx="201168" cy="201168"/>
          </a:xfrm>
          <a:prstGeom prst="ellipse">
            <a:avLst/>
          </a:prstGeom>
          <a:solidFill>
            <a:srgbClr val="F08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0287" y="1691639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微软雅黑"/>
              </a:defRPr>
            </a:pPr>
            <a:r>
              <a:t>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00519" y="1947671"/>
            <a:ext cx="1280160" cy="82296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F08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6239" y="2039111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微软雅黑"/>
              </a:defRPr>
            </a:pPr>
            <a:r>
              <a:t>Execute</a:t>
            </a:r>
            <a:br/>
            <a:r>
              <a:t>tools/call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8198967" y="2240279"/>
            <a:ext cx="164592" cy="201168"/>
          </a:xfrm>
          <a:prstGeom prst="rightArrow">
            <a:avLst/>
          </a:prstGeom>
          <a:solidFill>
            <a:srgbClr val="F08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56751" y="1673351"/>
            <a:ext cx="201168" cy="201168"/>
          </a:xfrm>
          <a:prstGeom prst="ellipse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5039" y="1691639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微软雅黑"/>
              </a:defRPr>
            </a:pPr>
            <a:r>
              <a:t>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45271" y="1947671"/>
            <a:ext cx="1280160" cy="82296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90991" y="2039111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微软雅黑"/>
              </a:defRPr>
            </a:pPr>
            <a:r>
              <a:t>Return</a:t>
            </a:r>
            <a:br/>
            <a:r>
              <a:t>Result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9643719" y="2240279"/>
            <a:ext cx="164592" cy="201168"/>
          </a:xfrm>
          <a:prstGeom prst="rightArrow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1503" y="1673351"/>
            <a:ext cx="201168" cy="201168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19791" y="1691639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微软雅黑"/>
              </a:defRPr>
            </a:pPr>
            <a:r>
              <a:t>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90023" y="1947671"/>
            <a:ext cx="1280160" cy="82296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35743" y="2039111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微软雅黑"/>
              </a:defRPr>
            </a:pPr>
            <a:r>
              <a:t>Final</a:t>
            </a:r>
            <a:br/>
            <a:r>
              <a:t>Response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06324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2A4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3154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080FF"/>
                </a:solidFill>
                <a:latin typeface="微软雅黑"/>
              </a:defRPr>
            </a:pPr>
            <a:r>
              <a:t>Tool-Use Loop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34747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1. LLM returns tool_calls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3712464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2. callTool via MCP client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395020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3. Result fed back to LLM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418795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4. Loop until text response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480560" y="3063240"/>
            <a:ext cx="3200400" cy="146304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2A4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63440" y="31546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8CAE4"/>
                </a:solidFill>
                <a:latin typeface="微软雅黑"/>
              </a:defRPr>
            </a:pPr>
            <a:r>
              <a:t>MCP Transport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347472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Streamable HTTP (primary)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3712464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SSE fallback (legacy)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63440" y="3950208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Auto-detect on connect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63440" y="4187952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Bidirectional streaming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955279" y="3063240"/>
            <a:ext cx="3566160" cy="146304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2A4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138160" y="31546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8060"/>
                </a:solidFill>
                <a:latin typeface="微软雅黑"/>
              </a:defRPr>
            </a:pPr>
            <a:r>
              <a:t>Agent Monitoring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8160" y="34747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Tool Name + Params + Result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3712464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Per-step duration logging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38160" y="395020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SSE real-time push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38160" y="4187952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Full execution trace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31520" y="4800600"/>
            <a:ext cx="10698480" cy="1828800"/>
          </a:xfrm>
          <a:prstGeom prst="roundRect">
            <a:avLst>
              <a:gd name="adj" fmla="val 5000"/>
            </a:avLst>
          </a:prstGeom>
          <a:solidFill>
            <a:srgbClr val="1B2E4A"/>
          </a:solidFill>
          <a:ln w="12700">
            <a:solidFill>
              <a:srgbClr val="2A4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05840" y="4892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080FF"/>
                </a:solidFill>
                <a:latin typeface="微软雅黑"/>
              </a:defRPr>
            </a:pPr>
            <a:r>
              <a:t>Agent Handler 实现要点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14400" y="5303520"/>
            <a:ext cx="3200400" cy="118872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2A4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97280" y="5394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微软雅黑"/>
              </a:defRPr>
            </a:pPr>
            <a:r>
              <a:t>阶段一：准备</a:t>
            </a:r>
          </a:p>
        </p:txBody>
      </p:sp>
      <p:sp>
        <p:nvSpPr>
          <p:cNvPr id="64" name="Oval 63"/>
          <p:cNvSpPr/>
          <p:nvPr/>
        </p:nvSpPr>
        <p:spPr>
          <a:xfrm>
            <a:off x="1097280" y="5760720"/>
            <a:ext cx="109728" cy="109728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80160" y="5742432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连接 MCP Server</a:t>
            </a:r>
          </a:p>
        </p:txBody>
      </p:sp>
      <p:sp>
        <p:nvSpPr>
          <p:cNvPr id="66" name="Oval 65"/>
          <p:cNvSpPr/>
          <p:nvPr/>
        </p:nvSpPr>
        <p:spPr>
          <a:xfrm>
            <a:off x="1097280" y="5943600"/>
            <a:ext cx="109728" cy="109728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80160" y="5925312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并行调用 tools/list</a:t>
            </a:r>
          </a:p>
        </p:txBody>
      </p:sp>
      <p:sp>
        <p:nvSpPr>
          <p:cNvPr id="68" name="Oval 67"/>
          <p:cNvSpPr/>
          <p:nvPr/>
        </p:nvSpPr>
        <p:spPr>
          <a:xfrm>
            <a:off x="1097280" y="6126480"/>
            <a:ext cx="109728" cy="109728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80160" y="6108192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聚合所有工具列表</a:t>
            </a:r>
          </a:p>
        </p:txBody>
      </p:sp>
      <p:sp>
        <p:nvSpPr>
          <p:cNvPr id="70" name="Oval 69"/>
          <p:cNvSpPr/>
          <p:nvPr/>
        </p:nvSpPr>
        <p:spPr>
          <a:xfrm>
            <a:off x="1097280" y="6309360"/>
            <a:ext cx="109728" cy="109728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80160" y="6291072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转为 OpenAI Tool 格式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89120" y="5303520"/>
            <a:ext cx="3200400" cy="118872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2A4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0" y="5394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8F"/>
                </a:solidFill>
                <a:latin typeface="微软雅黑"/>
              </a:defRPr>
            </a:pPr>
            <a:r>
              <a:t>阶段二：工具调用循环</a:t>
            </a:r>
          </a:p>
        </p:txBody>
      </p:sp>
      <p:sp>
        <p:nvSpPr>
          <p:cNvPr id="74" name="Oval 73"/>
          <p:cNvSpPr/>
          <p:nvPr/>
        </p:nvSpPr>
        <p:spPr>
          <a:xfrm>
            <a:off x="4572000" y="5760720"/>
            <a:ext cx="109728" cy="109728"/>
          </a:xfrm>
          <a:prstGeom prst="ellipse">
            <a:avLst/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54880" y="5742432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解析上下文模板变量</a:t>
            </a:r>
          </a:p>
        </p:txBody>
      </p:sp>
      <p:sp>
        <p:nvSpPr>
          <p:cNvPr id="76" name="Oval 75"/>
          <p:cNvSpPr/>
          <p:nvPr/>
        </p:nvSpPr>
        <p:spPr>
          <a:xfrm>
            <a:off x="4572000" y="5943600"/>
            <a:ext cx="109728" cy="109728"/>
          </a:xfrm>
          <a:prstGeom prst="ellipse">
            <a:avLst/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754880" y="5925312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构建 Prompt → LLM</a:t>
            </a:r>
          </a:p>
        </p:txBody>
      </p:sp>
      <p:sp>
        <p:nvSpPr>
          <p:cNvPr id="78" name="Oval 77"/>
          <p:cNvSpPr/>
          <p:nvPr/>
        </p:nvSpPr>
        <p:spPr>
          <a:xfrm>
            <a:off x="4572000" y="6126480"/>
            <a:ext cx="109728" cy="109728"/>
          </a:xfrm>
          <a:prstGeom prst="ellipse">
            <a:avLst/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54880" y="6108192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LLM 返回 tool_calls</a:t>
            </a:r>
          </a:p>
        </p:txBody>
      </p:sp>
      <p:sp>
        <p:nvSpPr>
          <p:cNvPr id="80" name="Oval 79"/>
          <p:cNvSpPr/>
          <p:nvPr/>
        </p:nvSpPr>
        <p:spPr>
          <a:xfrm>
            <a:off x="4572000" y="6309360"/>
            <a:ext cx="109728" cy="109728"/>
          </a:xfrm>
          <a:prstGeom prst="ellipse">
            <a:avLst/>
          </a:prstGeom>
          <a:solidFill>
            <a:srgbClr val="4EC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54880" y="6291072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调用 MCP tools/call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863840" y="5303520"/>
            <a:ext cx="3200400" cy="118872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2A4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046720" y="5394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8060"/>
                </a:solidFill>
                <a:latin typeface="微软雅黑"/>
              </a:defRPr>
            </a:pPr>
            <a:r>
              <a:t>阶段三：监控与输出</a:t>
            </a:r>
          </a:p>
        </p:txBody>
      </p:sp>
      <p:sp>
        <p:nvSpPr>
          <p:cNvPr id="84" name="Oval 83"/>
          <p:cNvSpPr/>
          <p:nvPr/>
        </p:nvSpPr>
        <p:spPr>
          <a:xfrm>
            <a:off x="8046720" y="5760720"/>
            <a:ext cx="109728" cy="109728"/>
          </a:xfrm>
          <a:prstGeom prst="ellipse">
            <a:avLst/>
          </a:prstGeom>
          <a:solidFill>
            <a:srgbClr val="F08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29600" y="5742432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工具返回 → 回传 LLM</a:t>
            </a:r>
          </a:p>
        </p:txBody>
      </p:sp>
      <p:sp>
        <p:nvSpPr>
          <p:cNvPr id="86" name="Oval 85"/>
          <p:cNvSpPr/>
          <p:nvPr/>
        </p:nvSpPr>
        <p:spPr>
          <a:xfrm>
            <a:off x="8046720" y="5943600"/>
            <a:ext cx="109728" cy="109728"/>
          </a:xfrm>
          <a:prstGeom prst="ellipse">
            <a:avLst/>
          </a:prstGeom>
          <a:solidFill>
            <a:srgbClr val="F08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29600" y="5925312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SSE 实时推送步骤</a:t>
            </a:r>
          </a:p>
        </p:txBody>
      </p:sp>
      <p:sp>
        <p:nvSpPr>
          <p:cNvPr id="88" name="Oval 87"/>
          <p:cNvSpPr/>
          <p:nvPr/>
        </p:nvSpPr>
        <p:spPr>
          <a:xfrm>
            <a:off x="8046720" y="6126480"/>
            <a:ext cx="109728" cy="109728"/>
          </a:xfrm>
          <a:prstGeom prst="ellipse">
            <a:avLst/>
          </a:prstGeom>
          <a:solidFill>
            <a:srgbClr val="F08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29600" y="6108192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记录耗时与结果</a:t>
            </a:r>
          </a:p>
        </p:txBody>
      </p:sp>
      <p:sp>
        <p:nvSpPr>
          <p:cNvPr id="90" name="Oval 89"/>
          <p:cNvSpPr/>
          <p:nvPr/>
        </p:nvSpPr>
        <p:spPr>
          <a:xfrm>
            <a:off x="8046720" y="6309360"/>
            <a:ext cx="109728" cy="109728"/>
          </a:xfrm>
          <a:prstGeom prst="ellipse">
            <a:avLst/>
          </a:prstGeom>
          <a:solidFill>
            <a:srgbClr val="F08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29600" y="6291072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6E5"/>
                </a:solidFill>
                <a:latin typeface="微软雅黑"/>
              </a:defRPr>
            </a:pPr>
            <a:r>
              <a:t>LLM 生成最终回答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74320"/>
            <a:ext cx="2011680" cy="292608"/>
          </a:xfrm>
          <a:prstGeom prst="roundRect">
            <a:avLst>
              <a:gd name="adj" fmla="val 5000"/>
            </a:avLst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Part 3  系统演示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首页与统计看板 (Dashboard)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4300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7/24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972800" cy="54864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4356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Dashboard 展示工作流总数、执行统计、最近记录等系统概览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" y="2103120"/>
            <a:ext cx="11825935" cy="4572000"/>
          </a:xfrm>
          <a:prstGeom prst="roundRect">
            <a:avLst>
              <a:gd name="adj" fmla="val 5000"/>
            </a:avLst>
          </a:prstGeom>
          <a:solidFill>
            <a:srgbClr val="122238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-首页截图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1378" y="2103120"/>
            <a:ext cx="7788938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工作流管理列表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8/24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05840"/>
            <a:ext cx="10972800" cy="54864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4EC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0698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卡片式工作流管理：创建、搜索、删除，一键执行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737360"/>
            <a:ext cx="11825935" cy="4937760"/>
          </a:xfrm>
          <a:prstGeom prst="roundRect">
            <a:avLst>
              <a:gd name="adj" fmla="val 5000"/>
            </a:avLst>
          </a:prstGeom>
          <a:solidFill>
            <a:srgbClr val="122238"/>
          </a:solidFill>
          <a:ln w="12700">
            <a:solidFill>
              <a:srgbClr val="4EC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2-工作流管理页面截图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821" y="1737360"/>
            <a:ext cx="8412053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工作流管理 -- 内置模板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9/24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05840"/>
            <a:ext cx="10972800" cy="54864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4EC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0698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内置多种工作流模板，快速创建常见流程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737360"/>
            <a:ext cx="11825935" cy="4937760"/>
          </a:xfrm>
          <a:prstGeom prst="roundRect">
            <a:avLst>
              <a:gd name="adj" fmla="val 5000"/>
            </a:avLst>
          </a:prstGeom>
          <a:solidFill>
            <a:srgbClr val="122238"/>
          </a:solidFill>
          <a:ln w="12700">
            <a:solidFill>
              <a:srgbClr val="4EC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2-工作流管理页面截图2内置工作流模版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821" y="1737360"/>
            <a:ext cx="8412053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可视化编辑器 -- 主画布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10/24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05840"/>
            <a:ext cx="10972800" cy="54864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FFA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0698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基于 XYFlow 的拖拽式工作流编辑器，所见即所得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737360"/>
            <a:ext cx="11825935" cy="4937760"/>
          </a:xfrm>
          <a:prstGeom prst="roundRect">
            <a:avLst>
              <a:gd name="adj" fmla="val 5000"/>
            </a:avLst>
          </a:prstGeom>
          <a:solidFill>
            <a:srgbClr val="122238"/>
          </a:solidFill>
          <a:ln w="12700">
            <a:solidFill>
              <a:srgbClr val="FFA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-工作流编辑页面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821" y="1737360"/>
            <a:ext cx="8412053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可视化编辑器 -- Start 节点配置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11/24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05840"/>
            <a:ext cx="10972800" cy="54864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FFA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0698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Start 节点：定义工作流入口与用户输入参数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737360"/>
            <a:ext cx="11825935" cy="4937760"/>
          </a:xfrm>
          <a:prstGeom prst="roundRect">
            <a:avLst>
              <a:gd name="adj" fmla="val 5000"/>
            </a:avLst>
          </a:prstGeom>
          <a:solidFill>
            <a:srgbClr val="122238"/>
          </a:solidFill>
          <a:ln w="12700">
            <a:solidFill>
              <a:srgbClr val="FFA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-工作流编辑页面start节点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6940" y="1737360"/>
            <a:ext cx="8417814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可视化编辑器 -- Condition 节点配置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13/24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05840"/>
            <a:ext cx="10972800" cy="54864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FFA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0698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Condition 节点：基于表达式动态选择分支路径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737360"/>
            <a:ext cx="11825935" cy="4937760"/>
          </a:xfrm>
          <a:prstGeom prst="roundRect">
            <a:avLst>
              <a:gd name="adj" fmla="val 5000"/>
            </a:avLst>
          </a:prstGeom>
          <a:solidFill>
            <a:srgbClr val="122238"/>
          </a:solidFill>
          <a:ln w="12700">
            <a:solidFill>
              <a:srgbClr val="FFA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-工作流编辑页面condition节点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6940" y="1737360"/>
            <a:ext cx="8417814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可视化编辑器 -- LLM 节点配置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12/24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05840"/>
            <a:ext cx="10972800" cy="54864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FFA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0698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LLM 节点：配置模型、System Prompt、温度等参数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737360"/>
            <a:ext cx="11825935" cy="4937760"/>
          </a:xfrm>
          <a:prstGeom prst="roundRect">
            <a:avLst>
              <a:gd name="adj" fmla="val 5000"/>
            </a:avLst>
          </a:prstGeom>
          <a:solidFill>
            <a:srgbClr val="122238"/>
          </a:solidFill>
          <a:ln w="12700">
            <a:solidFill>
              <a:srgbClr val="FFA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-工作流编辑页面LLM节点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6940" y="1737360"/>
            <a:ext cx="8417814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可视化编辑器 -- End 节点配置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14/24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05840"/>
            <a:ext cx="10972800" cy="54864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FFA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0698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End 节点：定义工作流输出与结果展示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737360"/>
            <a:ext cx="11825935" cy="4937760"/>
          </a:xfrm>
          <a:prstGeom prst="roundRect">
            <a:avLst>
              <a:gd name="adj" fmla="val 5000"/>
            </a:avLst>
          </a:prstGeom>
          <a:solidFill>
            <a:srgbClr val="122238"/>
          </a:solidFill>
          <a:ln w="12700">
            <a:solidFill>
              <a:srgbClr val="FFA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-工作流编辑页面end节点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6940" y="1737360"/>
            <a:ext cx="8417814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工作流执行 -- 执行页面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15/24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05840"/>
            <a:ext cx="10972800" cy="54864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0698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一键执行工作流，SSE 实时推送各节点运行状态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737360"/>
            <a:ext cx="11825935" cy="4937760"/>
          </a:xfrm>
          <a:prstGeom prst="roundRect">
            <a:avLst>
              <a:gd name="adj" fmla="val 5000"/>
            </a:avLst>
          </a:prstGeom>
          <a:solidFill>
            <a:srgbClr val="122238"/>
          </a:solidFill>
          <a:ln w="1270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4-执行页面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6940" y="1737360"/>
            <a:ext cx="8417814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工作流执行 -- 开始运行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16/24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05840"/>
            <a:ext cx="10972800" cy="54864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0698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按拓扑排序依次执行节点，实时更新执行进度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737360"/>
            <a:ext cx="11825935" cy="4937760"/>
          </a:xfrm>
          <a:prstGeom prst="roundRect">
            <a:avLst>
              <a:gd name="adj" fmla="val 5000"/>
            </a:avLst>
          </a:prstGeom>
          <a:solidFill>
            <a:srgbClr val="122238"/>
          </a:solidFill>
          <a:ln w="1270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4-执行开始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6940" y="1737360"/>
            <a:ext cx="8417814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工作流执行 -- 执行结果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17/24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05840"/>
            <a:ext cx="10972800" cy="54864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0698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完成后展示节点输出、执行耗时与详细日志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737360"/>
            <a:ext cx="11825935" cy="4937760"/>
          </a:xfrm>
          <a:prstGeom prst="roundRect">
            <a:avLst>
              <a:gd name="adj" fmla="val 5000"/>
            </a:avLst>
          </a:prstGeom>
          <a:solidFill>
            <a:srgbClr val="122238"/>
          </a:solidFill>
          <a:ln w="1270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4-执行结果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6940" y="1737360"/>
            <a:ext cx="8417814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MCP Server 管理页面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18/24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05840"/>
            <a:ext cx="10972800" cy="54864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A0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0698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MCP Server 注册、连接检测、工具发现管理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737360"/>
            <a:ext cx="11825935" cy="4937760"/>
          </a:xfrm>
          <a:prstGeom prst="roundRect">
            <a:avLst>
              <a:gd name="adj" fmla="val 5000"/>
            </a:avLst>
          </a:prstGeom>
          <a:solidFill>
            <a:srgbClr val="122238"/>
          </a:solidFill>
          <a:ln w="12700">
            <a:solidFill>
              <a:srgbClr val="A0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-mcp管理页面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6940" y="1737360"/>
            <a:ext cx="8417814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Agent -- MCP 节点配置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19/24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05840"/>
            <a:ext cx="10972800" cy="54864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A0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0698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Agent 节点绑定 MCP Server，自动发现可用工具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737360"/>
            <a:ext cx="11825935" cy="4937760"/>
          </a:xfrm>
          <a:prstGeom prst="roundRect">
            <a:avLst>
              <a:gd name="adj" fmla="val 5000"/>
            </a:avLst>
          </a:prstGeom>
          <a:solidFill>
            <a:srgbClr val="122238"/>
          </a:solidFill>
          <a:ln w="12700">
            <a:solidFill>
              <a:srgbClr val="A0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-mcp节点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6940" y="1737360"/>
            <a:ext cx="8417814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Agent -- MCP 工具调用步骤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20/24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05840"/>
            <a:ext cx="10972800" cy="54864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A0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0698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执行时展示 LLM tool_calls + MCP callTool 交互过程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737360"/>
            <a:ext cx="11825935" cy="4937760"/>
          </a:xfrm>
          <a:prstGeom prst="roundRect">
            <a:avLst>
              <a:gd name="adj" fmla="val 5000"/>
            </a:avLst>
          </a:prstGeom>
          <a:solidFill>
            <a:srgbClr val="122238"/>
          </a:solidFill>
          <a:ln w="12700">
            <a:solidFill>
              <a:srgbClr val="A0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-mcp节点执行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4059" y="1737360"/>
            <a:ext cx="8423576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Agent -- MCP 工具调用结果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21/24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05840"/>
            <a:ext cx="10972800" cy="54864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A0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0698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LLM 综合工具调用结果生成最终回答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737360"/>
            <a:ext cx="11825935" cy="4937760"/>
          </a:xfrm>
          <a:prstGeom prst="roundRect">
            <a:avLst>
              <a:gd name="adj" fmla="val 5000"/>
            </a:avLst>
          </a:prstGeom>
          <a:solidFill>
            <a:srgbClr val="122238"/>
          </a:solidFill>
          <a:ln w="12700">
            <a:solidFill>
              <a:srgbClr val="A0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-mcp节点执行结果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4059" y="1737360"/>
            <a:ext cx="8423576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MCP 执行日志详情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22/24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05840"/>
            <a:ext cx="10972800" cy="548640"/>
          </a:xfrm>
          <a:prstGeom prst="roundRect">
            <a:avLst>
              <a:gd name="adj" fmla="val 5000"/>
            </a:avLst>
          </a:prstGeom>
          <a:solidFill>
            <a:srgbClr val="203555"/>
          </a:solidFill>
          <a:ln w="12700">
            <a:solidFill>
              <a:srgbClr val="A0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0698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详细记录每次工具调用的参数、返回结果与耗时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737360"/>
            <a:ext cx="11825935" cy="4937760"/>
          </a:xfrm>
          <a:prstGeom prst="roundRect">
            <a:avLst>
              <a:gd name="adj" fmla="val 5000"/>
            </a:avLst>
          </a:prstGeom>
          <a:solidFill>
            <a:srgbClr val="122238"/>
          </a:solidFill>
          <a:ln w="12700">
            <a:solidFill>
              <a:srgbClr val="A0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-mcp服务器执行日志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1017" y="1737360"/>
            <a:ext cx="87096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60F1E"/>
            </a:gs>
            <a:gs pos="100000">
              <a:srgbClr val="0D1B2A"/>
            </a:gs>
          </a:gsLst>
          <a:lin ang="135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37160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微软雅黑"/>
              </a:defRPr>
            </a:pPr>
            <a:r>
              <a:t>致  谢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560320"/>
            <a:ext cx="2133295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926080"/>
            <a:ext cx="8534095" cy="1486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200"/>
              </a:spcAft>
              <a:defRPr sz="1800" b="0">
                <a:solidFill>
                  <a:srgbClr val="C8D6E5"/>
                </a:solidFill>
                <a:latin typeface="微软雅黑"/>
              </a:defRPr>
            </a:pPr>
            <a:r>
              <a:t>感谢唐菀</a:t>
            </a:r>
            <a:r>
              <a:rPr lang="zh-CN"/>
              <a:t>老师</a:t>
            </a:r>
            <a:r>
              <a:t>在选题、设计和论文撰写中的悉心指导</a:t>
            </a:r>
          </a:p>
          <a:p>
            <a:pPr algn="ctr">
              <a:spcAft>
                <a:spcPts val="2200"/>
              </a:spcAft>
              <a:defRPr sz="1800" b="0">
                <a:solidFill>
                  <a:srgbClr val="C8D6E5"/>
                </a:solidFill>
                <a:latin typeface="微软雅黑"/>
              </a:defRPr>
            </a:pPr>
            <a:r>
              <a:t>感谢计算机学院（人工智能学院）老师们的培养</a:t>
            </a:r>
          </a:p>
          <a:p>
            <a:pPr algn="ctr">
              <a:spcAft>
                <a:spcPts val="2200"/>
              </a:spcAft>
              <a:defRPr sz="1800" b="0">
                <a:solidFill>
                  <a:srgbClr val="C8D6E5"/>
                </a:solidFill>
                <a:latin typeface="微软雅黑"/>
              </a:defRPr>
            </a:pPr>
            <a:r>
              <a:t>感谢同学们和家人的支持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5303520"/>
            <a:ext cx="3047695" cy="18288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4864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恳请各位老师批评指正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8D6E5"/>
                </a:solidFill>
                <a:latin typeface="微软雅黑"/>
              </a:defRPr>
            </a:pPr>
            <a:r>
              <a:t>24/24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3345</Words>
  <Application>WPS 演示</Application>
  <PresentationFormat>On-screen Show (4:3)</PresentationFormat>
  <Paragraphs>464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7" baseType="lpstr">
      <vt:lpstr>Arial</vt:lpstr>
      <vt:lpstr>宋体</vt:lpstr>
      <vt:lpstr>Wingdings</vt:lpstr>
      <vt:lpstr>Arial</vt:lpstr>
      <vt:lpstr>微软雅黑</vt:lpstr>
      <vt:lpstr>汉仪旗黑</vt:lpstr>
      <vt:lpstr>Calibri</vt:lpstr>
      <vt:lpstr>Helvetica Neue</vt:lpstr>
      <vt:lpstr>宋体</vt:lpstr>
      <vt:lpstr>汉仪书宋二KW</vt:lpstr>
      <vt:lpstr>微软雅黑</vt:lpstr>
      <vt:lpstr>Arial Unicode MS</vt:lpstr>
      <vt:lpstr>微软雅黑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WPS_1662177948</cp:lastModifiedBy>
  <cp:revision>4</cp:revision>
  <dcterms:created xsi:type="dcterms:W3CDTF">2026-05-22T14:30:27Z</dcterms:created>
  <dcterms:modified xsi:type="dcterms:W3CDTF">2026-05-22T14:30:27Z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0811F32D935868F74367106A39FE2F9C_42</vt:lpwstr>
  </property>
  <property fmtid="{D5CDD505-2E9C-101B-9397-08002B2CF9AE}" pid="3" name="KSOProductBuildVer">
    <vt:lpwstr>2052-12.1.25205.25205</vt:lpwstr>
  </property>
</Properties>
</file>